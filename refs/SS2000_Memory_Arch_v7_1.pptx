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0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karand Kulkarni" userId="6ef9a6eb-9a4f-4d54-9d52-4a9ab544fcb5" providerId="ADAL" clId="{4B09CADA-DDFE-40A1-93C6-7C2BD8204DBB}"/>
    <pc:docChg chg="custSel modSld">
      <pc:chgData name="Makarand Kulkarni" userId="6ef9a6eb-9a4f-4d54-9d52-4a9ab544fcb5" providerId="ADAL" clId="{4B09CADA-DDFE-40A1-93C6-7C2BD8204DBB}" dt="2026-05-22T08:28:53.686" v="26" actId="14100"/>
      <pc:docMkLst>
        <pc:docMk/>
      </pc:docMkLst>
      <pc:sldChg chg="modSp mod">
        <pc:chgData name="Makarand Kulkarni" userId="6ef9a6eb-9a4f-4d54-9d52-4a9ab544fcb5" providerId="ADAL" clId="{4B09CADA-DDFE-40A1-93C6-7C2BD8204DBB}" dt="2026-05-22T08:23:20.189" v="9" actId="1076"/>
        <pc:sldMkLst>
          <pc:docMk/>
          <pc:sldMk cId="0" sldId="260"/>
        </pc:sldMkLst>
        <pc:spChg chg="mod">
          <ac:chgData name="Makarand Kulkarni" userId="6ef9a6eb-9a4f-4d54-9d52-4a9ab544fcb5" providerId="ADAL" clId="{4B09CADA-DDFE-40A1-93C6-7C2BD8204DBB}" dt="2026-05-22T08:23:20.189" v="9" actId="1076"/>
          <ac:spMkLst>
            <pc:docMk/>
            <pc:sldMk cId="0" sldId="260"/>
            <ac:spMk id="49" creationId="{00000000-0000-0000-0000-000000000000}"/>
          </ac:spMkLst>
        </pc:spChg>
      </pc:sldChg>
      <pc:sldChg chg="modSp mod">
        <pc:chgData name="Makarand Kulkarni" userId="6ef9a6eb-9a4f-4d54-9d52-4a9ab544fcb5" providerId="ADAL" clId="{4B09CADA-DDFE-40A1-93C6-7C2BD8204DBB}" dt="2026-05-22T08:23:49.284" v="12" actId="1076"/>
        <pc:sldMkLst>
          <pc:docMk/>
          <pc:sldMk cId="0" sldId="261"/>
        </pc:sldMkLst>
        <pc:spChg chg="mod">
          <ac:chgData name="Makarand Kulkarni" userId="6ef9a6eb-9a4f-4d54-9d52-4a9ab544fcb5" providerId="ADAL" clId="{4B09CADA-DDFE-40A1-93C6-7C2BD8204DBB}" dt="2026-05-22T08:23:49.284" v="12" actId="1076"/>
          <ac:spMkLst>
            <pc:docMk/>
            <pc:sldMk cId="0" sldId="261"/>
            <ac:spMk id="37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3:49.284" v="12" actId="1076"/>
          <ac:spMkLst>
            <pc:docMk/>
            <pc:sldMk cId="0" sldId="261"/>
            <ac:spMk id="38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3:49.284" v="12" actId="1076"/>
          <ac:spMkLst>
            <pc:docMk/>
            <pc:sldMk cId="0" sldId="261"/>
            <ac:spMk id="39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3:49.284" v="12" actId="1076"/>
          <ac:spMkLst>
            <pc:docMk/>
            <pc:sldMk cId="0" sldId="261"/>
            <ac:spMk id="40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3:49.284" v="12" actId="1076"/>
          <ac:spMkLst>
            <pc:docMk/>
            <pc:sldMk cId="0" sldId="261"/>
            <ac:spMk id="41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3:49.284" v="12" actId="1076"/>
          <ac:spMkLst>
            <pc:docMk/>
            <pc:sldMk cId="0" sldId="261"/>
            <ac:spMk id="42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3:49.284" v="12" actId="1076"/>
          <ac:spMkLst>
            <pc:docMk/>
            <pc:sldMk cId="0" sldId="261"/>
            <ac:spMk id="43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3:41.851" v="11" actId="1076"/>
          <ac:spMkLst>
            <pc:docMk/>
            <pc:sldMk cId="0" sldId="261"/>
            <ac:spMk id="44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3:41.851" v="11" actId="1076"/>
          <ac:spMkLst>
            <pc:docMk/>
            <pc:sldMk cId="0" sldId="261"/>
            <ac:spMk id="45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3:41.851" v="11" actId="1076"/>
          <ac:spMkLst>
            <pc:docMk/>
            <pc:sldMk cId="0" sldId="261"/>
            <ac:spMk id="46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3:41.851" v="11" actId="1076"/>
          <ac:spMkLst>
            <pc:docMk/>
            <pc:sldMk cId="0" sldId="261"/>
            <ac:spMk id="47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3:41.851" v="11" actId="1076"/>
          <ac:spMkLst>
            <pc:docMk/>
            <pc:sldMk cId="0" sldId="261"/>
            <ac:spMk id="48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3:41.851" v="11" actId="1076"/>
          <ac:spMkLst>
            <pc:docMk/>
            <pc:sldMk cId="0" sldId="261"/>
            <ac:spMk id="49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3:41.851" v="11" actId="1076"/>
          <ac:spMkLst>
            <pc:docMk/>
            <pc:sldMk cId="0" sldId="261"/>
            <ac:spMk id="50" creationId="{00000000-0000-0000-0000-000000000000}"/>
          </ac:spMkLst>
        </pc:spChg>
      </pc:sldChg>
      <pc:sldChg chg="modSp mod">
        <pc:chgData name="Makarand Kulkarni" userId="6ef9a6eb-9a4f-4d54-9d52-4a9ab544fcb5" providerId="ADAL" clId="{4B09CADA-DDFE-40A1-93C6-7C2BD8204DBB}" dt="2026-05-22T08:24:45.678" v="16" actId="14100"/>
        <pc:sldMkLst>
          <pc:docMk/>
          <pc:sldMk cId="0" sldId="262"/>
        </pc:sldMkLst>
        <pc:spChg chg="mod">
          <ac:chgData name="Makarand Kulkarni" userId="6ef9a6eb-9a4f-4d54-9d52-4a9ab544fcb5" providerId="ADAL" clId="{4B09CADA-DDFE-40A1-93C6-7C2BD8204DBB}" dt="2026-05-22T08:24:03.221" v="13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03.221" v="13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45.678" v="16" actId="14100"/>
          <ac:spMkLst>
            <pc:docMk/>
            <pc:sldMk cId="0" sldId="262"/>
            <ac:spMk id="16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45.678" v="16" actId="14100"/>
          <ac:spMkLst>
            <pc:docMk/>
            <pc:sldMk cId="0" sldId="262"/>
            <ac:spMk id="17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03.221" v="13" actId="107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45.678" v="16" actId="14100"/>
          <ac:spMkLst>
            <pc:docMk/>
            <pc:sldMk cId="0" sldId="262"/>
            <ac:spMk id="30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03.221" v="13" actId="1076"/>
          <ac:spMkLst>
            <pc:docMk/>
            <pc:sldMk cId="0" sldId="262"/>
            <ac:spMk id="38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45.678" v="16" actId="14100"/>
          <ac:spMkLst>
            <pc:docMk/>
            <pc:sldMk cId="0" sldId="262"/>
            <ac:spMk id="44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45.678" v="16" actId="14100"/>
          <ac:spMkLst>
            <pc:docMk/>
            <pc:sldMk cId="0" sldId="262"/>
            <ac:spMk id="45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03.221" v="13" actId="1076"/>
          <ac:spMkLst>
            <pc:docMk/>
            <pc:sldMk cId="0" sldId="262"/>
            <ac:spMk id="47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03.221" v="13" actId="1076"/>
          <ac:spMkLst>
            <pc:docMk/>
            <pc:sldMk cId="0" sldId="262"/>
            <ac:spMk id="50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45.678" v="16" actId="14100"/>
          <ac:spMkLst>
            <pc:docMk/>
            <pc:sldMk cId="0" sldId="262"/>
            <ac:spMk id="58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45.678" v="16" actId="14100"/>
          <ac:spMkLst>
            <pc:docMk/>
            <pc:sldMk cId="0" sldId="262"/>
            <ac:spMk id="59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03.221" v="13" actId="1076"/>
          <ac:spMkLst>
            <pc:docMk/>
            <pc:sldMk cId="0" sldId="262"/>
            <ac:spMk id="65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03.221" v="13" actId="1076"/>
          <ac:spMkLst>
            <pc:docMk/>
            <pc:sldMk cId="0" sldId="262"/>
            <ac:spMk id="68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45.678" v="16" actId="14100"/>
          <ac:spMkLst>
            <pc:docMk/>
            <pc:sldMk cId="0" sldId="262"/>
            <ac:spMk id="72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03.221" v="13" actId="1076"/>
          <ac:spMkLst>
            <pc:docMk/>
            <pc:sldMk cId="0" sldId="262"/>
            <ac:spMk id="73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03.221" v="13" actId="1076"/>
          <ac:spMkLst>
            <pc:docMk/>
            <pc:sldMk cId="0" sldId="262"/>
            <ac:spMk id="74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45.678" v="16" actId="14100"/>
          <ac:spMkLst>
            <pc:docMk/>
            <pc:sldMk cId="0" sldId="262"/>
            <ac:spMk id="100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45.678" v="16" actId="14100"/>
          <ac:spMkLst>
            <pc:docMk/>
            <pc:sldMk cId="0" sldId="262"/>
            <ac:spMk id="101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34.323" v="15" actId="14100"/>
          <ac:spMkLst>
            <pc:docMk/>
            <pc:sldMk cId="0" sldId="262"/>
            <ac:spMk id="102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34.323" v="15" actId="14100"/>
          <ac:spMkLst>
            <pc:docMk/>
            <pc:sldMk cId="0" sldId="262"/>
            <ac:spMk id="103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34.323" v="15" actId="14100"/>
          <ac:spMkLst>
            <pc:docMk/>
            <pc:sldMk cId="0" sldId="262"/>
            <ac:spMk id="105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34.323" v="15" actId="14100"/>
          <ac:spMkLst>
            <pc:docMk/>
            <pc:sldMk cId="0" sldId="262"/>
            <ac:spMk id="106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34.323" v="15" actId="14100"/>
          <ac:spMkLst>
            <pc:docMk/>
            <pc:sldMk cId="0" sldId="262"/>
            <ac:spMk id="108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34.323" v="15" actId="14100"/>
          <ac:spMkLst>
            <pc:docMk/>
            <pc:sldMk cId="0" sldId="262"/>
            <ac:spMk id="109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34.323" v="15" actId="14100"/>
          <ac:spMkLst>
            <pc:docMk/>
            <pc:sldMk cId="0" sldId="262"/>
            <ac:spMk id="110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34.323" v="15" actId="14100"/>
          <ac:spMkLst>
            <pc:docMk/>
            <pc:sldMk cId="0" sldId="262"/>
            <ac:spMk id="111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34.323" v="15" actId="14100"/>
          <ac:spMkLst>
            <pc:docMk/>
            <pc:sldMk cId="0" sldId="262"/>
            <ac:spMk id="112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4:34.323" v="15" actId="14100"/>
          <ac:spMkLst>
            <pc:docMk/>
            <pc:sldMk cId="0" sldId="262"/>
            <ac:spMk id="113" creationId="{00000000-0000-0000-0000-000000000000}"/>
          </ac:spMkLst>
        </pc:spChg>
      </pc:sldChg>
      <pc:sldChg chg="modSp mod">
        <pc:chgData name="Makarand Kulkarni" userId="6ef9a6eb-9a4f-4d54-9d52-4a9ab544fcb5" providerId="ADAL" clId="{4B09CADA-DDFE-40A1-93C6-7C2BD8204DBB}" dt="2026-05-22T08:25:24.016" v="18" actId="14100"/>
        <pc:sldMkLst>
          <pc:docMk/>
          <pc:sldMk cId="0" sldId="263"/>
        </pc:sldMkLst>
        <pc:spChg chg="mod">
          <ac:chgData name="Makarand Kulkarni" userId="6ef9a6eb-9a4f-4d54-9d52-4a9ab544fcb5" providerId="ADAL" clId="{4B09CADA-DDFE-40A1-93C6-7C2BD8204DBB}" dt="2026-05-22T08:25:20.409" v="17" actId="14100"/>
          <ac:spMkLst>
            <pc:docMk/>
            <pc:sldMk cId="0" sldId="263"/>
            <ac:spMk id="14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20.409" v="17" actId="14100"/>
          <ac:spMkLst>
            <pc:docMk/>
            <pc:sldMk cId="0" sldId="263"/>
            <ac:spMk id="26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20.409" v="17" actId="14100"/>
          <ac:spMkLst>
            <pc:docMk/>
            <pc:sldMk cId="0" sldId="263"/>
            <ac:spMk id="27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20.409" v="17" actId="14100"/>
          <ac:spMkLst>
            <pc:docMk/>
            <pc:sldMk cId="0" sldId="263"/>
            <ac:spMk id="50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20.409" v="17" actId="14100"/>
          <ac:spMkLst>
            <pc:docMk/>
            <pc:sldMk cId="0" sldId="263"/>
            <ac:spMk id="62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20.409" v="17" actId="14100"/>
          <ac:spMkLst>
            <pc:docMk/>
            <pc:sldMk cId="0" sldId="263"/>
            <ac:spMk id="74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20.409" v="17" actId="14100"/>
          <ac:spMkLst>
            <pc:docMk/>
            <pc:sldMk cId="0" sldId="263"/>
            <ac:spMk id="98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20.409" v="17" actId="14100"/>
          <ac:spMkLst>
            <pc:docMk/>
            <pc:sldMk cId="0" sldId="263"/>
            <ac:spMk id="110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20.409" v="17" actId="14100"/>
          <ac:spMkLst>
            <pc:docMk/>
            <pc:sldMk cId="0" sldId="263"/>
            <ac:spMk id="122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20.409" v="17" actId="14100"/>
          <ac:spMkLst>
            <pc:docMk/>
            <pc:sldMk cId="0" sldId="263"/>
            <ac:spMk id="134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24.016" v="18" actId="14100"/>
          <ac:spMkLst>
            <pc:docMk/>
            <pc:sldMk cId="0" sldId="263"/>
            <ac:spMk id="146" creationId="{00000000-0000-0000-0000-000000000000}"/>
          </ac:spMkLst>
        </pc:spChg>
      </pc:sldChg>
      <pc:sldChg chg="modSp mod">
        <pc:chgData name="Makarand Kulkarni" userId="6ef9a6eb-9a4f-4d54-9d52-4a9ab544fcb5" providerId="ADAL" clId="{4B09CADA-DDFE-40A1-93C6-7C2BD8204DBB}" dt="2026-05-22T08:25:42.040" v="19" actId="14100"/>
        <pc:sldMkLst>
          <pc:docMk/>
          <pc:sldMk cId="0" sldId="264"/>
        </pc:sldMkLst>
        <pc:spChg chg="mod">
          <ac:chgData name="Makarand Kulkarni" userId="6ef9a6eb-9a4f-4d54-9d52-4a9ab544fcb5" providerId="ADAL" clId="{4B09CADA-DDFE-40A1-93C6-7C2BD8204DBB}" dt="2026-05-22T08:25:42.040" v="19" actId="14100"/>
          <ac:spMkLst>
            <pc:docMk/>
            <pc:sldMk cId="0" sldId="264"/>
            <ac:spMk id="26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42.040" v="19" actId="14100"/>
          <ac:spMkLst>
            <pc:docMk/>
            <pc:sldMk cId="0" sldId="264"/>
            <ac:spMk id="27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42.040" v="19" actId="14100"/>
          <ac:spMkLst>
            <pc:docMk/>
            <pc:sldMk cId="0" sldId="264"/>
            <ac:spMk id="51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42.040" v="19" actId="14100"/>
          <ac:spMkLst>
            <pc:docMk/>
            <pc:sldMk cId="0" sldId="264"/>
            <ac:spMk id="62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42.040" v="19" actId="14100"/>
          <ac:spMkLst>
            <pc:docMk/>
            <pc:sldMk cId="0" sldId="264"/>
            <ac:spMk id="74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42.040" v="19" actId="14100"/>
          <ac:spMkLst>
            <pc:docMk/>
            <pc:sldMk cId="0" sldId="264"/>
            <ac:spMk id="87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42.040" v="19" actId="14100"/>
          <ac:spMkLst>
            <pc:docMk/>
            <pc:sldMk cId="0" sldId="264"/>
            <ac:spMk id="99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42.040" v="19" actId="14100"/>
          <ac:spMkLst>
            <pc:docMk/>
            <pc:sldMk cId="0" sldId="264"/>
            <ac:spMk id="123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42.040" v="19" actId="14100"/>
          <ac:spMkLst>
            <pc:docMk/>
            <pc:sldMk cId="0" sldId="264"/>
            <ac:spMk id="135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42.040" v="19" actId="14100"/>
          <ac:spMkLst>
            <pc:docMk/>
            <pc:sldMk cId="0" sldId="264"/>
            <ac:spMk id="146" creationId="{00000000-0000-0000-0000-000000000000}"/>
          </ac:spMkLst>
        </pc:spChg>
      </pc:sldChg>
      <pc:sldChg chg="modSp mod">
        <pc:chgData name="Makarand Kulkarni" userId="6ef9a6eb-9a4f-4d54-9d52-4a9ab544fcb5" providerId="ADAL" clId="{4B09CADA-DDFE-40A1-93C6-7C2BD8204DBB}" dt="2026-05-22T08:25:56.780" v="21" actId="14100"/>
        <pc:sldMkLst>
          <pc:docMk/>
          <pc:sldMk cId="0" sldId="265"/>
        </pc:sldMkLst>
        <pc:spChg chg="mod">
          <ac:chgData name="Makarand Kulkarni" userId="6ef9a6eb-9a4f-4d54-9d52-4a9ab544fcb5" providerId="ADAL" clId="{4B09CADA-DDFE-40A1-93C6-7C2BD8204DBB}" dt="2026-05-22T08:25:56.780" v="21" actId="14100"/>
          <ac:spMkLst>
            <pc:docMk/>
            <pc:sldMk cId="0" sldId="265"/>
            <ac:spMk id="32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56.780" v="21" actId="14100"/>
          <ac:spMkLst>
            <pc:docMk/>
            <pc:sldMk cId="0" sldId="265"/>
            <ac:spMk id="42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56.780" v="21" actId="14100"/>
          <ac:spMkLst>
            <pc:docMk/>
            <pc:sldMk cId="0" sldId="265"/>
            <ac:spMk id="43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56.780" v="21" actId="14100"/>
          <ac:spMkLst>
            <pc:docMk/>
            <pc:sldMk cId="0" sldId="265"/>
            <ac:spMk id="52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56.780" v="21" actId="14100"/>
          <ac:spMkLst>
            <pc:docMk/>
            <pc:sldMk cId="0" sldId="265"/>
            <ac:spMk id="53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56.780" v="21" actId="14100"/>
          <ac:spMkLst>
            <pc:docMk/>
            <pc:sldMk cId="0" sldId="265"/>
            <ac:spMk id="72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56.780" v="21" actId="14100"/>
          <ac:spMkLst>
            <pc:docMk/>
            <pc:sldMk cId="0" sldId="265"/>
            <ac:spMk id="83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56.780" v="21" actId="14100"/>
          <ac:spMkLst>
            <pc:docMk/>
            <pc:sldMk cId="0" sldId="265"/>
            <ac:spMk id="93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56.780" v="21" actId="14100"/>
          <ac:spMkLst>
            <pc:docMk/>
            <pc:sldMk cId="0" sldId="265"/>
            <ac:spMk id="112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56.780" v="21" actId="14100"/>
          <ac:spMkLst>
            <pc:docMk/>
            <pc:sldMk cId="0" sldId="265"/>
            <ac:spMk id="123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5:48.235" v="20" actId="14100"/>
          <ac:spMkLst>
            <pc:docMk/>
            <pc:sldMk cId="0" sldId="265"/>
            <ac:spMk id="124" creationId="{00000000-0000-0000-0000-000000000000}"/>
          </ac:spMkLst>
        </pc:spChg>
      </pc:sldChg>
      <pc:sldChg chg="modSp mod">
        <pc:chgData name="Makarand Kulkarni" userId="6ef9a6eb-9a4f-4d54-9d52-4a9ab544fcb5" providerId="ADAL" clId="{4B09CADA-DDFE-40A1-93C6-7C2BD8204DBB}" dt="2026-05-22T08:26:27.606" v="22" actId="14100"/>
        <pc:sldMkLst>
          <pc:docMk/>
          <pc:sldMk cId="0" sldId="266"/>
        </pc:sldMkLst>
        <pc:spChg chg="mod">
          <ac:chgData name="Makarand Kulkarni" userId="6ef9a6eb-9a4f-4d54-9d52-4a9ab544fcb5" providerId="ADAL" clId="{4B09CADA-DDFE-40A1-93C6-7C2BD8204DBB}" dt="2026-05-22T08:26:27.606" v="22" actId="14100"/>
          <ac:spMkLst>
            <pc:docMk/>
            <pc:sldMk cId="0" sldId="266"/>
            <ac:spMk id="8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6:27.606" v="22" actId="14100"/>
          <ac:spMkLst>
            <pc:docMk/>
            <pc:sldMk cId="0" sldId="266"/>
            <ac:spMk id="14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6:27.606" v="22" actId="14100"/>
          <ac:spMkLst>
            <pc:docMk/>
            <pc:sldMk cId="0" sldId="266"/>
            <ac:spMk id="21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6:27.606" v="22" actId="14100"/>
          <ac:spMkLst>
            <pc:docMk/>
            <pc:sldMk cId="0" sldId="266"/>
            <ac:spMk id="26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6:27.606" v="22" actId="14100"/>
          <ac:spMkLst>
            <pc:docMk/>
            <pc:sldMk cId="0" sldId="266"/>
            <ac:spMk id="38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6:27.606" v="22" actId="14100"/>
          <ac:spMkLst>
            <pc:docMk/>
            <pc:sldMk cId="0" sldId="266"/>
            <ac:spMk id="39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6:27.606" v="22" actId="14100"/>
          <ac:spMkLst>
            <pc:docMk/>
            <pc:sldMk cId="0" sldId="266"/>
            <ac:spMk id="50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6:27.606" v="22" actId="14100"/>
          <ac:spMkLst>
            <pc:docMk/>
            <pc:sldMk cId="0" sldId="266"/>
            <ac:spMk id="51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6:27.606" v="22" actId="14100"/>
          <ac:spMkLst>
            <pc:docMk/>
            <pc:sldMk cId="0" sldId="266"/>
            <ac:spMk id="57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6:27.606" v="22" actId="14100"/>
          <ac:spMkLst>
            <pc:docMk/>
            <pc:sldMk cId="0" sldId="266"/>
            <ac:spMk id="63" creationId="{00000000-0000-0000-0000-000000000000}"/>
          </ac:spMkLst>
        </pc:spChg>
      </pc:sldChg>
      <pc:sldChg chg="modSp mod">
        <pc:chgData name="Makarand Kulkarni" userId="6ef9a6eb-9a4f-4d54-9d52-4a9ab544fcb5" providerId="ADAL" clId="{4B09CADA-DDFE-40A1-93C6-7C2BD8204DBB}" dt="2026-05-22T08:26:38.457" v="24" actId="14100"/>
        <pc:sldMkLst>
          <pc:docMk/>
          <pc:sldMk cId="0" sldId="267"/>
        </pc:sldMkLst>
        <pc:spChg chg="mod">
          <ac:chgData name="Makarand Kulkarni" userId="6ef9a6eb-9a4f-4d54-9d52-4a9ab544fcb5" providerId="ADAL" clId="{4B09CADA-DDFE-40A1-93C6-7C2BD8204DBB}" dt="2026-05-22T08:26:38.457" v="24" actId="14100"/>
          <ac:spMkLst>
            <pc:docMk/>
            <pc:sldMk cId="0" sldId="267"/>
            <ac:spMk id="16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6:35.232" v="23" actId="14100"/>
          <ac:spMkLst>
            <pc:docMk/>
            <pc:sldMk cId="0" sldId="267"/>
            <ac:spMk id="28" creationId="{00000000-0000-0000-0000-000000000000}"/>
          </ac:spMkLst>
        </pc:spChg>
      </pc:sldChg>
      <pc:sldChg chg="modSp mod">
        <pc:chgData name="Makarand Kulkarni" userId="6ef9a6eb-9a4f-4d54-9d52-4a9ab544fcb5" providerId="ADAL" clId="{4B09CADA-DDFE-40A1-93C6-7C2BD8204DBB}" dt="2026-05-22T08:28:16.770" v="25" actId="14100"/>
        <pc:sldMkLst>
          <pc:docMk/>
          <pc:sldMk cId="0" sldId="268"/>
        </pc:sldMkLst>
        <pc:spChg chg="mod">
          <ac:chgData name="Makarand Kulkarni" userId="6ef9a6eb-9a4f-4d54-9d52-4a9ab544fcb5" providerId="ADAL" clId="{4B09CADA-DDFE-40A1-93C6-7C2BD8204DBB}" dt="2026-05-22T08:28:16.770" v="25" actId="14100"/>
          <ac:spMkLst>
            <pc:docMk/>
            <pc:sldMk cId="0" sldId="268"/>
            <ac:spMk id="11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8:16.770" v="25" actId="14100"/>
          <ac:spMkLst>
            <pc:docMk/>
            <pc:sldMk cId="0" sldId="268"/>
            <ac:spMk id="18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8:16.770" v="25" actId="14100"/>
          <ac:spMkLst>
            <pc:docMk/>
            <pc:sldMk cId="0" sldId="268"/>
            <ac:spMk id="26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8:16.770" v="25" actId="14100"/>
          <ac:spMkLst>
            <pc:docMk/>
            <pc:sldMk cId="0" sldId="268"/>
            <ac:spMk id="27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8:16.770" v="25" actId="14100"/>
          <ac:spMkLst>
            <pc:docMk/>
            <pc:sldMk cId="0" sldId="268"/>
            <ac:spMk id="34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8:16.770" v="25" actId="14100"/>
          <ac:spMkLst>
            <pc:docMk/>
            <pc:sldMk cId="0" sldId="268"/>
            <ac:spMk id="35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8:16.770" v="25" actId="14100"/>
          <ac:spMkLst>
            <pc:docMk/>
            <pc:sldMk cId="0" sldId="268"/>
            <ac:spMk id="42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8:16.770" v="25" actId="14100"/>
          <ac:spMkLst>
            <pc:docMk/>
            <pc:sldMk cId="0" sldId="268"/>
            <ac:spMk id="50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8:16.770" v="25" actId="14100"/>
          <ac:spMkLst>
            <pc:docMk/>
            <pc:sldMk cId="0" sldId="268"/>
            <ac:spMk id="59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8:16.770" v="25" actId="14100"/>
          <ac:spMkLst>
            <pc:docMk/>
            <pc:sldMk cId="0" sldId="268"/>
            <ac:spMk id="66" creationId="{00000000-0000-0000-0000-000000000000}"/>
          </ac:spMkLst>
        </pc:spChg>
      </pc:sldChg>
      <pc:sldChg chg="modSp mod">
        <pc:chgData name="Makarand Kulkarni" userId="6ef9a6eb-9a4f-4d54-9d52-4a9ab544fcb5" providerId="ADAL" clId="{4B09CADA-DDFE-40A1-93C6-7C2BD8204DBB}" dt="2026-05-22T08:28:53.686" v="26" actId="14100"/>
        <pc:sldMkLst>
          <pc:docMk/>
          <pc:sldMk cId="0" sldId="269"/>
        </pc:sldMkLst>
        <pc:spChg chg="mod">
          <ac:chgData name="Makarand Kulkarni" userId="6ef9a6eb-9a4f-4d54-9d52-4a9ab544fcb5" providerId="ADAL" clId="{4B09CADA-DDFE-40A1-93C6-7C2BD8204DBB}" dt="2026-05-22T07:27:32.171" v="2" actId="2057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7:27:37.033" v="5" actId="20577"/>
          <ac:spMkLst>
            <pc:docMk/>
            <pc:sldMk cId="0" sldId="269"/>
            <ac:spMk id="17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8:53.686" v="26" actId="14100"/>
          <ac:spMkLst>
            <pc:docMk/>
            <pc:sldMk cId="0" sldId="269"/>
            <ac:spMk id="18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7:27:41.638" v="8" actId="20577"/>
          <ac:spMkLst>
            <pc:docMk/>
            <pc:sldMk cId="0" sldId="269"/>
            <ac:spMk id="23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8:53.686" v="26" actId="14100"/>
          <ac:spMkLst>
            <pc:docMk/>
            <pc:sldMk cId="0" sldId="269"/>
            <ac:spMk id="25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8:53.686" v="26" actId="14100"/>
          <ac:spMkLst>
            <pc:docMk/>
            <pc:sldMk cId="0" sldId="269"/>
            <ac:spMk id="27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8:53.686" v="26" actId="14100"/>
          <ac:spMkLst>
            <pc:docMk/>
            <pc:sldMk cId="0" sldId="269"/>
            <ac:spMk id="29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8:53.686" v="26" actId="14100"/>
          <ac:spMkLst>
            <pc:docMk/>
            <pc:sldMk cId="0" sldId="269"/>
            <ac:spMk id="30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8:53.686" v="26" actId="14100"/>
          <ac:spMkLst>
            <pc:docMk/>
            <pc:sldMk cId="0" sldId="269"/>
            <ac:spMk id="48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8:53.686" v="26" actId="14100"/>
          <ac:spMkLst>
            <pc:docMk/>
            <pc:sldMk cId="0" sldId="269"/>
            <ac:spMk id="63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8:53.686" v="26" actId="14100"/>
          <ac:spMkLst>
            <pc:docMk/>
            <pc:sldMk cId="0" sldId="269"/>
            <ac:spMk id="67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8:53.686" v="26" actId="14100"/>
          <ac:spMkLst>
            <pc:docMk/>
            <pc:sldMk cId="0" sldId="269"/>
            <ac:spMk id="69" creationId="{00000000-0000-0000-0000-000000000000}"/>
          </ac:spMkLst>
        </pc:spChg>
        <pc:spChg chg="mod">
          <ac:chgData name="Makarand Kulkarni" userId="6ef9a6eb-9a4f-4d54-9d52-4a9ab544fcb5" providerId="ADAL" clId="{4B09CADA-DDFE-40A1-93C6-7C2BD8204DBB}" dt="2026-05-22T08:28:53.686" v="26" actId="14100"/>
          <ac:spMkLst>
            <pc:docMk/>
            <pc:sldMk cId="0" sldId="269"/>
            <ac:spMk id="7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6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194560"/>
          </a:xfrm>
          <a:prstGeom prst="rect">
            <a:avLst/>
          </a:prstGeom>
          <a:solidFill>
            <a:srgbClr val="DDE8F1"/>
          </a:solidFill>
          <a:ln w="12700">
            <a:solidFill>
              <a:srgbClr val="DDE8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12188952" cy="54864"/>
          </a:xfrm>
          <a:prstGeom prst="rect">
            <a:avLst/>
          </a:prstGeom>
          <a:solidFill>
            <a:srgbClr val="7FA8C9"/>
          </a:solidFill>
          <a:ln w="12700">
            <a:solidFill>
              <a:srgbClr val="7FA8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515600" y="0"/>
            <a:ext cx="1673352" cy="2194560"/>
          </a:xfrm>
          <a:prstGeom prst="rect">
            <a:avLst/>
          </a:prstGeom>
          <a:solidFill>
            <a:srgbClr val="F2DEDC"/>
          </a:solidFill>
          <a:ln w="12700">
            <a:solidFill>
              <a:srgbClr val="F2DE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SS2000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GSM/GPRS Baseband SoC - Memory Architecture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v7.1  -  Final architecture  ·  Cache + banked OCM + dedicated TCM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166360" cy="1417320"/>
          </a:xfrm>
          <a:prstGeom prst="roundRect">
            <a:avLst>
              <a:gd name="adj" fmla="val 7742"/>
            </a:avLst>
          </a:prstGeom>
          <a:solidFill>
            <a:srgbClr val="EEF3F8"/>
          </a:solidFill>
          <a:ln w="16510">
            <a:solidFill>
              <a:srgbClr val="7FA8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91440" cy="1417320"/>
          </a:xfrm>
          <a:prstGeom prst="rect">
            <a:avLst/>
          </a:prstGeom>
          <a:solidFill>
            <a:srgbClr val="7FA8C9"/>
          </a:solidFill>
          <a:ln w="12700">
            <a:solidFill>
              <a:srgbClr val="7FA8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" y="27157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Core (Core 0)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99008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KB I$ + 16 KB D$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5387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RV32 + P-ext · L2/L3, MMI, AT, audio framework · runs from PSRAM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2606040"/>
            <a:ext cx="5166360" cy="1417320"/>
          </a:xfrm>
          <a:prstGeom prst="roundRect">
            <a:avLst>
              <a:gd name="adj" fmla="val 7742"/>
            </a:avLst>
          </a:prstGeom>
          <a:solidFill>
            <a:srgbClr val="F8ECEB"/>
          </a:solidFill>
          <a:ln w="16510">
            <a:solidFill>
              <a:srgbClr val="D49B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355080" y="2606040"/>
            <a:ext cx="91440" cy="1417320"/>
          </a:xfrm>
          <a:prstGeom prst="rect">
            <a:avLst/>
          </a:prstGeom>
          <a:solidFill>
            <a:srgbClr val="D49B9B"/>
          </a:solidFill>
          <a:ln w="12700">
            <a:solidFill>
              <a:srgbClr val="D49B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583680" y="27157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Core (Core 1)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299008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KB cache + 256 KB OCM + 36 KB TCM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353872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RV32 + P-ext · 700 MHz · OCM banked 8×32 KB · TCM holds DFE + audio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5166360" cy="1417320"/>
          </a:xfrm>
          <a:prstGeom prst="roundRect">
            <a:avLst>
              <a:gd name="adj" fmla="val 7742"/>
            </a:avLst>
          </a:prstGeom>
          <a:solidFill>
            <a:srgbClr val="DDEAD8"/>
          </a:solidFill>
          <a:ln w="16510">
            <a:solidFill>
              <a:srgbClr val="9DBF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91440" cy="1417320"/>
          </a:xfrm>
          <a:prstGeom prst="rect">
            <a:avLst/>
          </a:prstGeom>
          <a:solidFill>
            <a:srgbClr val="9DBFA3"/>
          </a:solidFill>
          <a:ln w="12700">
            <a:solidFill>
              <a:srgbClr val="9DBF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68680" y="42702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Inter-core IPC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54456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KB uncached carve-out in OCM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50932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4 KB + GP ADC/DAC 1 KB · APB doorbell for IRQ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4160520"/>
            <a:ext cx="5166360" cy="1417320"/>
          </a:xfrm>
          <a:prstGeom prst="roundRect">
            <a:avLst>
              <a:gd name="adj" fmla="val 7742"/>
            </a:avLst>
          </a:prstGeom>
          <a:solidFill>
            <a:srgbClr val="F0E2C4"/>
          </a:solidFill>
          <a:ln w="16510">
            <a:solidFill>
              <a:srgbClr val="C9A8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355080" y="4160520"/>
            <a:ext cx="91440" cy="1417320"/>
          </a:xfrm>
          <a:prstGeom prst="rect">
            <a:avLst/>
          </a:prstGeom>
          <a:solidFill>
            <a:srgbClr val="C9A87D"/>
          </a:solidFill>
          <a:ln w="12700">
            <a:solidFill>
              <a:srgbClr val="C9A8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583680" y="42702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memories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454456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MB PSRAM  +  4 MB Flash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83680" y="50932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PSRAM 200 cy · Flash 1600 cy @ 700 MHz · single-bank FOTA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on-die SRAM: 364 KB  ·  Sampige Semiconductors  ·  SS2000 Confidential  ·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SS2000 System Memory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RV32 P-ext  ·  Application Core cache+PSRAM  ·  DSP Core cache+OCM+TCM  ·  shared via uncached OCM carve-out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5577840" cy="4846320"/>
          </a:xfrm>
          <a:prstGeom prst="roundRect">
            <a:avLst>
              <a:gd name="adj" fmla="val 1321"/>
            </a:avLst>
          </a:prstGeom>
          <a:solidFill>
            <a:srgbClr val="EEF3F8"/>
          </a:solidFill>
          <a:ln w="9525">
            <a:solidFill>
              <a:srgbClr val="7FA8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E8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CORE  (CORE 0)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3619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RV32 + P-ext  ·  L2/L3, MMI, AT, audio framework, RTOS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029200" cy="777240"/>
          </a:xfrm>
          <a:prstGeom prst="roundRect">
            <a:avLst>
              <a:gd name="adj" fmla="val 7059"/>
            </a:avLst>
          </a:prstGeom>
          <a:solidFill>
            <a:srgbClr val="7FA8C9"/>
          </a:solidFill>
          <a:ln w="12700">
            <a:solidFill>
              <a:srgbClr val="7FA8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RV32GC + P-ext  ·  700 MHz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3042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pipeline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834640"/>
            <a:ext cx="2423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6510">
            <a:solidFill>
              <a:srgbClr val="7FA8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5800" y="29077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8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I-Cache  ·  32 KB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18211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4-way · 64B line · LRU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40156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PSRAM-backed runtime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2834640"/>
            <a:ext cx="2423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6510">
            <a:solidFill>
              <a:srgbClr val="7FA8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91840" y="290779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8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D-Cache  ·  16 KB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318211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4-way · 64B line · WB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340156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PSRAM heap, messages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8862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8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cache (not TCM)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Code 1.5-2 MB - too big for TCM, fits 4 MB PSRAM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44531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Soft real-time only (~ms response, no burst deadline)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474573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Hot 75-90 KB → 32 KB I$ gives ~98% hit, AMAT ~5 cy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503834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Cold/FOTA stays in flash; runtime in PSRAM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99632" y="1188720"/>
            <a:ext cx="5577840" cy="4846320"/>
          </a:xfrm>
          <a:prstGeom prst="roundRect">
            <a:avLst>
              <a:gd name="adj" fmla="val 1321"/>
            </a:avLst>
          </a:prstGeom>
          <a:solidFill>
            <a:srgbClr val="F8ECEB"/>
          </a:solidFill>
          <a:ln w="9525">
            <a:solidFill>
              <a:srgbClr val="D49B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36792" y="12801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CORE  (CORE 1)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36792" y="153619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RV32 + P-ext  ·  L1 PHY, voice codec, AEC, NS, FM, audio decode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36792" y="192024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D49B9B"/>
          </a:solidFill>
          <a:ln w="12700">
            <a:solidFill>
              <a:srgbClr val="D49B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36792" y="20116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RV32 + P-ext  ·  700 MHz (full speed)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36792" y="23042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+ OCM + TCM hybrid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36792" y="283464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6510">
            <a:solidFill>
              <a:srgbClr val="D49B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336792" y="29077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 16+8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36792" y="318211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I$ + D$ (KB)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36792" y="340156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line-lock capable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165592" y="283464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6510">
            <a:solidFill>
              <a:srgbClr val="C9A8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165592" y="29077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OCM  256 KB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65592" y="318211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banked 8 × 32 KB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165592" y="340156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KB IPC carve-out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994392" y="2834640"/>
            <a:ext cx="16459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6510">
            <a:solidFill>
              <a:srgbClr val="B47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9994392" y="29077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  36 KB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994392" y="31821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DFE-Rx/Tx + audio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994392" y="34015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real-time only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36792" y="38862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cache + OCM + TCM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36792" y="41605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TCM gives 1-cy guaranteed for HW-paced DFE / audio buffers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36792" y="44531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OCM 5-cy penalty hidden by cache for code + L1 .bss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36792" y="474573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Banking + line-lock available if determinism tightens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36792" y="503834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700 MHz fmax (TCM small enough to be off critical path)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11480" y="5577840"/>
            <a:ext cx="11365992" cy="777240"/>
          </a:xfrm>
          <a:prstGeom prst="roundRect">
            <a:avLst>
              <a:gd name="adj" fmla="val 8235"/>
            </a:avLst>
          </a:prstGeom>
          <a:solidFill>
            <a:srgbClr val="F4F6F9"/>
          </a:solidFill>
          <a:ln w="9525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94360" y="5650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IPC: 5 KB uncached carve-out inside OCM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94360" y="5897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KB APP↔DSP + 1 KB GP ADC/DAC · APB doorbell IRQ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58000" y="56509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PSRAM 4 MB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858000" y="5897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Core runtime + bulk buffers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692640" y="56509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4 MB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692640" y="5897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+ FOTA + resources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65760" y="651967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95360" y="651967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SS2000 Confidential  ·  v7.1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cache + OCM + TCM for DSP Core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memory tiers, each chosen for a specific access pattern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3749040" cy="49377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6510">
            <a:solidFill>
              <a:srgbClr val="7FA8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3749040" cy="457200"/>
          </a:xfrm>
          <a:prstGeom prst="rect">
            <a:avLst/>
          </a:prstGeom>
          <a:solidFill>
            <a:srgbClr val="7FA8C9"/>
          </a:solidFill>
          <a:ln w="12700">
            <a:solidFill>
              <a:srgbClr val="7FA8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(16+8 KB)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amplifier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Hides OCM 5-cy miss penalty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AMAT = 1.18 cy at 16 KB I$ + 3% miss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383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Line-lock available for L1 PHY hot loops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9776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Transparent to software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188720"/>
            <a:ext cx="3749040" cy="49377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6510">
            <a:solidFill>
              <a:srgbClr val="C9A8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343400" y="1188720"/>
            <a:ext cx="3749040" cy="457200"/>
          </a:xfrm>
          <a:prstGeom prst="rect">
            <a:avLst/>
          </a:prstGeom>
          <a:solidFill>
            <a:srgbClr val="C9A87D"/>
          </a:solidFill>
          <a:ln w="12700">
            <a:solidFill>
              <a:srgbClr val="C9A8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480560" y="126187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OCM (256 KB)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code +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21945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Holds codec, L1 PHY .text/.rodata/.bss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2788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8 × 32 KB banks, individually I/D-mappable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3383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DMA target for kernel staging from PSRAM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39776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5 KB uncached carve-out for IPC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75320" y="1188720"/>
            <a:ext cx="3749040" cy="49377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6510">
            <a:solidFill>
              <a:srgbClr val="D49B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275320" y="1188720"/>
            <a:ext cx="3749040" cy="457200"/>
          </a:xfrm>
          <a:prstGeom prst="rect">
            <a:avLst/>
          </a:prstGeom>
          <a:solidFill>
            <a:srgbClr val="D49B9B"/>
          </a:solidFill>
          <a:ln w="12700">
            <a:solidFill>
              <a:srgbClr val="D49B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412480" y="126187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 (36 KB)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real-time only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58200" y="21945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DFE-Rx 16 KB + DFE-Tx 16 KB ping-pong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58200" y="2788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Audio-MIC 0.3 KB + Audio-out 3.75 KB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58200" y="3383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1-cycle deterministic - cache miss not allowed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58200" y="39776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 DSP-CPU private bus, not AXI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65760" y="651967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· Each for a specific access pattern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95360" y="651967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SS2000 Confidential  ·  v7.1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Core cache sizing - AMAT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I-cache 32 KB / D-cache 16 KB  ·  PSRAM-resident runtime code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2606040" cy="1097280"/>
          </a:xfrm>
          <a:prstGeom prst="roundRect">
            <a:avLst>
              <a:gd name="adj" fmla="val 5833"/>
            </a:avLst>
          </a:prstGeom>
          <a:solidFill>
            <a:srgbClr val="F4F6F9"/>
          </a:solidFill>
          <a:ln w="9525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35331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miss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1,600 cy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~2.3 us @ 700 MHz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06040" cy="1097280"/>
          </a:xfrm>
          <a:prstGeom prst="roundRect">
            <a:avLst>
              <a:gd name="adj" fmla="val 5833"/>
            </a:avLst>
          </a:prstGeom>
          <a:solidFill>
            <a:srgbClr val="F4F6F9"/>
          </a:solidFill>
          <a:ln w="9525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37560" y="135331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PSRAM miss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16002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cy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37560" y="21031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~286 ns @ 700 MHz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280160"/>
            <a:ext cx="2606040" cy="1097280"/>
          </a:xfrm>
          <a:prstGeom prst="roundRect">
            <a:avLst>
              <a:gd name="adj" fmla="val 5833"/>
            </a:avLst>
          </a:prstGeom>
          <a:solidFill>
            <a:srgbClr val="F4F6F9"/>
          </a:solidFill>
          <a:ln w="9525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172200" y="135331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I-cache hit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72200" y="16002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E8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cy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72200" y="21031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single-cycle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15400" y="1280160"/>
            <a:ext cx="2606040" cy="1097280"/>
          </a:xfrm>
          <a:prstGeom prst="roundRect">
            <a:avLst>
              <a:gd name="adj" fmla="val 5833"/>
            </a:avLst>
          </a:prstGeom>
          <a:solidFill>
            <a:srgbClr val="F4F6F9"/>
          </a:solidFill>
          <a:ln w="9525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006840" y="1353312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AMAT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06840" y="16002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&lt;= 5 cy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006840" y="21031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responsiveness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2606040"/>
            <a:ext cx="11338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AMAT under different I-cache sizes  (textbook ballparks - validate via cachegrind)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3017520"/>
            <a:ext cx="1097280" cy="384048"/>
          </a:xfrm>
          <a:prstGeom prst="rect">
            <a:avLst/>
          </a:prstGeom>
          <a:solidFill>
            <a:srgbClr val="7FA8C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5488" y="3063240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I$ size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508760" y="3017520"/>
            <a:ext cx="1645920" cy="384048"/>
          </a:xfrm>
          <a:prstGeom prst="rect">
            <a:avLst/>
          </a:prstGeom>
          <a:solidFill>
            <a:srgbClr val="7FA8C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572768" y="306324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miss rate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54680" y="3017520"/>
            <a:ext cx="3108960" cy="384048"/>
          </a:xfrm>
          <a:prstGeom prst="rect">
            <a:avLst/>
          </a:prstGeom>
          <a:solidFill>
            <a:srgbClr val="7FA8C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18688" y="3063240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AMAT vs flash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3017520"/>
            <a:ext cx="3108960" cy="384048"/>
          </a:xfrm>
          <a:prstGeom prst="rect">
            <a:avLst/>
          </a:prstGeom>
          <a:solidFill>
            <a:srgbClr val="7FA8C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327648" y="3063240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AMAT vs PSRAM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372600" y="3017520"/>
            <a:ext cx="2377440" cy="384048"/>
          </a:xfrm>
          <a:prstGeom prst="rect">
            <a:avLst/>
          </a:prstGeom>
          <a:solidFill>
            <a:srgbClr val="7FA8C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436608" y="3063240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3401568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" y="3447288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KB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508760" y="3401568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572768" y="3447288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~3-4%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54680" y="3401568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218688" y="3447288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+ 0.035 x 1600 = 57 cy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3401568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327648" y="3447288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+ 0.035 x 200 = 8 cy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372600" y="3401568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9436608" y="3447288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11480" y="3785616"/>
            <a:ext cx="109728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75488" y="3831336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KB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508760" y="3785616"/>
            <a:ext cx="164592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1572768" y="3831336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~1.5-2%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154680" y="3785616"/>
            <a:ext cx="3108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218688" y="3831336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+ 0.020 x 1600 = 33 cy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63640" y="3785616"/>
            <a:ext cx="3108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327648" y="3831336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+ 0.020 x 200 = 5 cy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372600" y="3785616"/>
            <a:ext cx="237744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9436608" y="3831336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 (recommended)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11480" y="4169664"/>
            <a:ext cx="1097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75488" y="4215384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KB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508760" y="4169664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1572768" y="4215384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~0.5-0.7%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154680" y="4169664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3218688" y="4215384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+ 0.007 x 1600 = 12 cy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263640" y="4169664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327648" y="4215384"/>
            <a:ext cx="2980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+ 0.007 x 200 = 2.4 cy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372600" y="4169664"/>
            <a:ext cx="2377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9436608" y="4215384"/>
            <a:ext cx="22494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but 2x silicon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11480" y="5029200"/>
            <a:ext cx="11365992" cy="1280160"/>
          </a:xfrm>
          <a:prstGeom prst="roundRect">
            <a:avLst>
              <a:gd name="adj" fmla="val 5000"/>
            </a:avLst>
          </a:prstGeom>
          <a:solidFill>
            <a:srgbClr val="DDEAD8"/>
          </a:solidFill>
          <a:ln w="9525">
            <a:solidFill>
              <a:srgbClr val="9DBF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594360" y="5102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594360" y="53492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KB I-cache + 16 KB D-cache, 4-way SA, 64-byte line, write-back, LRU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594360" y="56875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code must execute from PSRAM (not flash).  Boot ROM relocates active text from SPI-Flash to PSRAM; cold/FOTA stays in flash.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365760" y="651967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Core  ·  Cache sizing rationale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595360" y="651967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SS2000 Confidential  ·  v7.1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Core sizing detail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KB I$ + 8 KB D$  ·  256 KB banked OCM  ·  36 KB dedicated TCM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11365992" cy="2560320"/>
          </a:xfrm>
          <a:prstGeom prst="roundRect">
            <a:avLst>
              <a:gd name="adj" fmla="val 3571"/>
            </a:avLst>
          </a:prstGeom>
          <a:solidFill>
            <a:srgbClr val="F2DEDC"/>
          </a:solidFill>
          <a:ln w="12700">
            <a:solidFill>
              <a:srgbClr val="D49B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CORE memory layout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2423160" cy="2011680"/>
          </a:xfrm>
          <a:prstGeom prst="roundRect">
            <a:avLst>
              <a:gd name="adj" fmla="val 2727"/>
            </a:avLst>
          </a:prstGeom>
          <a:solidFill>
            <a:srgbClr val="D49B9B"/>
          </a:solidFill>
          <a:ln w="12700">
            <a:solidFill>
              <a:srgbClr val="D49B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RV32 + P-ext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MHz (full speed)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Single-issue in-order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pipeline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Line-lock on D$ for L1 PHY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600200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B47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154680" y="1691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I-cache  ·  16 KB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19659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4-way · 64B line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54680" y="21945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line-lock capable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54680" y="2651760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B47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154680" y="27432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D-cache  ·  8 KB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54680" y="301752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4-way · WB · 64B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54680" y="324612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OCM access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74920" y="1600200"/>
            <a:ext cx="4526280" cy="2011680"/>
          </a:xfrm>
          <a:prstGeom prst="roundRect">
            <a:avLst>
              <a:gd name="adj" fmla="val 2727"/>
            </a:avLst>
          </a:prstGeom>
          <a:solidFill>
            <a:srgbClr val="F0E2C4"/>
          </a:solidFill>
          <a:ln w="16510">
            <a:solidFill>
              <a:srgbClr val="C9A8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74920" y="1664208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OCM - banked 8 × 32 KB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192024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KB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5166360" y="2468880"/>
            <a:ext cx="960120" cy="201168"/>
          </a:xfrm>
          <a:prstGeom prst="rect">
            <a:avLst/>
          </a:prstGeom>
          <a:solidFill>
            <a:srgbClr val="C9A87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166360" y="246888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KB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217920" y="2468880"/>
            <a:ext cx="960120" cy="201168"/>
          </a:xfrm>
          <a:prstGeom prst="rect">
            <a:avLst/>
          </a:prstGeom>
          <a:solidFill>
            <a:srgbClr val="C9A87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17920" y="246888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KB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69480" y="2468880"/>
            <a:ext cx="960120" cy="201168"/>
          </a:xfrm>
          <a:prstGeom prst="rect">
            <a:avLst/>
          </a:prstGeom>
          <a:solidFill>
            <a:srgbClr val="C9A87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269480" y="246888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KB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321040" y="2468880"/>
            <a:ext cx="960120" cy="201168"/>
          </a:xfrm>
          <a:prstGeom prst="rect">
            <a:avLst/>
          </a:prstGeom>
          <a:solidFill>
            <a:srgbClr val="C9A87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321040" y="246888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KB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166360" y="2743200"/>
            <a:ext cx="960120" cy="201168"/>
          </a:xfrm>
          <a:prstGeom prst="rect">
            <a:avLst/>
          </a:prstGeom>
          <a:solidFill>
            <a:srgbClr val="C9A87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166360" y="274320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KB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217920" y="2743200"/>
            <a:ext cx="960120" cy="201168"/>
          </a:xfrm>
          <a:prstGeom prst="rect">
            <a:avLst/>
          </a:prstGeom>
          <a:solidFill>
            <a:srgbClr val="C9A87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217920" y="274320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KB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269480" y="2743200"/>
            <a:ext cx="960120" cy="201168"/>
          </a:xfrm>
          <a:prstGeom prst="rect">
            <a:avLst/>
          </a:prstGeom>
          <a:solidFill>
            <a:srgbClr val="C9A87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269480" y="274320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KB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321040" y="2743200"/>
            <a:ext cx="960120" cy="201168"/>
          </a:xfrm>
          <a:prstGeom prst="rect">
            <a:avLst/>
          </a:prstGeom>
          <a:solidFill>
            <a:srgbClr val="C9A87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321040" y="274320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KB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74920" y="30632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bank I or D mappable. Codec + L1 PHY cached. 5 KB uncached carve-out for IPC + GP ADC/DAC.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738360" y="1600200"/>
            <a:ext cx="1920240" cy="2011680"/>
          </a:xfrm>
          <a:prstGeom prst="roundRect">
            <a:avLst>
              <a:gd name="adj" fmla="val 3333"/>
            </a:avLst>
          </a:prstGeom>
          <a:solidFill>
            <a:srgbClr val="F2DEDC"/>
          </a:solidFill>
          <a:ln w="16510">
            <a:solidFill>
              <a:srgbClr val="B47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9738360" y="16642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  ·  36 KB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829800" y="1993392"/>
            <a:ext cx="1737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49B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9875520" y="20391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DFE-Rx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927080" y="203911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KB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829800" y="2496312"/>
            <a:ext cx="1737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49B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9875520" y="25420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DFE-Tx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927080" y="254203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KB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829800" y="2999232"/>
            <a:ext cx="1737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49B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9875520" y="304495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927080" y="304495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KB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797796" y="35890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DSP-CPU private · hard-RT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" y="397764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Core cache sizing  ·  AMAT vs OCM (5-cy penalty)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11480" y="4343400"/>
            <a:ext cx="1097280" cy="347472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84632" y="4389120"/>
            <a:ext cx="950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I$ size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508760" y="4343400"/>
            <a:ext cx="1371600" cy="347472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1581912" y="4389120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rate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880360" y="4343400"/>
            <a:ext cx="1188720" cy="347472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2953512" y="4389120"/>
            <a:ext cx="1042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AMAT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069080" y="4343400"/>
            <a:ext cx="2286000" cy="347472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142232" y="4389120"/>
            <a:ext cx="2139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11480" y="4690872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84632" y="4736592"/>
            <a:ext cx="950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KB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508760" y="4690872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1581912" y="4736592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~6-8%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880360" y="4690872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2953512" y="4736592"/>
            <a:ext cx="1042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 cy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069080" y="4690872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142232" y="4736592"/>
            <a:ext cx="2139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11480" y="5038344"/>
            <a:ext cx="1097280" cy="347472"/>
          </a:xfrm>
          <a:prstGeom prst="rect">
            <a:avLst/>
          </a:prstGeom>
          <a:solidFill>
            <a:srgbClr val="DDEAD8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84632" y="5084064"/>
            <a:ext cx="950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KB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1508760" y="5038344"/>
            <a:ext cx="1371600" cy="347472"/>
          </a:xfrm>
          <a:prstGeom prst="rect">
            <a:avLst/>
          </a:prstGeom>
          <a:solidFill>
            <a:srgbClr val="DDEAD8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1581912" y="5084064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~3-4%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880360" y="5038344"/>
            <a:ext cx="1188720" cy="347472"/>
          </a:xfrm>
          <a:prstGeom prst="rect">
            <a:avLst/>
          </a:prstGeom>
          <a:solidFill>
            <a:srgbClr val="DDEAD8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2953512" y="5084064"/>
            <a:ext cx="1042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1.18 cy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069080" y="5038344"/>
            <a:ext cx="2286000" cy="347472"/>
          </a:xfrm>
          <a:prstGeom prst="rect">
            <a:avLst/>
          </a:prstGeom>
          <a:solidFill>
            <a:srgbClr val="DDEAD8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4142232" y="5084064"/>
            <a:ext cx="2139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 (recommended)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411480" y="5385816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484632" y="5431536"/>
            <a:ext cx="950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KB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1508760" y="5385816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1581912" y="5431536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~1.5-2%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880360" y="5385816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2953512" y="5431536"/>
            <a:ext cx="1042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 cy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4069080" y="5385816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4142232" y="5431536"/>
            <a:ext cx="2139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Better, +16 KB silicon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6492240" y="4343400"/>
            <a:ext cx="5303520" cy="1417320"/>
          </a:xfrm>
          <a:prstGeom prst="roundRect">
            <a:avLst>
              <a:gd name="adj" fmla="val 4516"/>
            </a:avLst>
          </a:prstGeom>
          <a:solidFill>
            <a:srgbClr val="DDEAD8"/>
          </a:solidFill>
          <a:ln w="9525">
            <a:solidFill>
              <a:srgbClr val="9DBF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6675120" y="440740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16 KB I$ is enough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6675120" y="466344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OCM is only 5 cy away (vs 200 cy PSRAM).  Working set ~50 KB/TDMA frame fits comfortably.  AMAT 1.18 cy is essentially free.  Larger cache adds silicon for no measurable gain.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365760" y="651967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Core sizing  ·  16+8 KB cache, 256 KB OCM, 36 KB TCM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8595360" y="651967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SS2000 Confidential  ·  v7.1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timing — why TCM matters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TDMA frame 4.615 ms · DFE 8x oversampled at 2.17 Msps · zero tolerance for buffer overrun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405890" cy="777240"/>
          </a:xfrm>
          <a:prstGeom prst="rect">
            <a:avLst/>
          </a:prstGeom>
          <a:solidFill>
            <a:srgbClr val="7FA8C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90472"/>
            <a:ext cx="14058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4058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RX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63090" y="1417320"/>
            <a:ext cx="140589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863090" y="1490472"/>
            <a:ext cx="14058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63090" y="1737360"/>
            <a:ext cx="14058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8980" y="1417320"/>
            <a:ext cx="140589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68980" y="1490472"/>
            <a:ext cx="14058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68980" y="1737360"/>
            <a:ext cx="14058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74870" y="1417320"/>
            <a:ext cx="1405890" cy="777240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74870" y="1490472"/>
            <a:ext cx="14058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74870" y="1737360"/>
            <a:ext cx="14058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 TX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1405890" cy="777240"/>
          </a:xfrm>
          <a:prstGeom prst="rect">
            <a:avLst/>
          </a:prstGeom>
          <a:solidFill>
            <a:srgbClr val="F2DEDC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80760" y="1490472"/>
            <a:ext cx="14058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1737360"/>
            <a:ext cx="14058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86650" y="1417320"/>
            <a:ext cx="1405890" cy="777240"/>
          </a:xfrm>
          <a:prstGeom prst="rect">
            <a:avLst/>
          </a:prstGeom>
          <a:solidFill>
            <a:srgbClr val="F2DEDC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486650" y="1490472"/>
            <a:ext cx="14058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86650" y="1737360"/>
            <a:ext cx="14058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92540" y="1417320"/>
            <a:ext cx="1405890" cy="777240"/>
          </a:xfrm>
          <a:prstGeom prst="rect">
            <a:avLst/>
          </a:prstGeom>
          <a:solidFill>
            <a:srgbClr val="DDEAD8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892540" y="1490472"/>
            <a:ext cx="14058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92540" y="1737360"/>
            <a:ext cx="14058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298430" y="1417320"/>
            <a:ext cx="1405890" cy="777240"/>
          </a:xfrm>
          <a:prstGeom prst="rect">
            <a:avLst/>
          </a:prstGeom>
          <a:solidFill>
            <a:srgbClr val="DDEAD8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0298430" y="1490472"/>
            <a:ext cx="140589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298430" y="1737360"/>
            <a:ext cx="14058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112471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TDMA frame  ·  4.615 ms  ·  8 slots × 577 µs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3017520"/>
            <a:ext cx="361188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6510">
            <a:solidFill>
              <a:srgbClr val="B47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11480" y="3017520"/>
            <a:ext cx="3611880" cy="411480"/>
          </a:xfrm>
          <a:prstGeom prst="rect">
            <a:avLst/>
          </a:prstGeom>
          <a:solidFill>
            <a:srgbClr val="B47A7A"/>
          </a:solidFill>
          <a:ln w="12700">
            <a:solidFill>
              <a:srgbClr val="B47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48640" y="3063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DFE-Rx → TCM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76072" y="35204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DFE delivers 8× oversampled IQ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6072" y="381304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156 sym × 8 × 4 B = 5 KB per burst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6072" y="410565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Ping-pong → 16 KB TCM allocated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6072" y="439826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Cache cannot serve - HW-paced writes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51960" y="3040380"/>
            <a:ext cx="361188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6510">
            <a:solidFill>
              <a:srgbClr val="B47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251960" y="3040380"/>
            <a:ext cx="3611880" cy="411480"/>
          </a:xfrm>
          <a:prstGeom prst="rect">
            <a:avLst/>
          </a:prstGeom>
          <a:solidFill>
            <a:srgbClr val="B47A7A"/>
          </a:solidFill>
          <a:ln w="12700">
            <a:solidFill>
              <a:srgbClr val="B47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389120" y="30861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→ DFE-Tx → TCM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416552" y="35433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GMSK modulator output 8× oversampled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416552" y="38359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Burst formatter writes 5 KB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416552" y="412851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Ping-pong → 16 KB TCM allocated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416552" y="442112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DAC consumes deterministically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092440" y="3063240"/>
            <a:ext cx="361188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6510">
            <a:solidFill>
              <a:srgbClr val="B47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8092440" y="3063240"/>
            <a:ext cx="3611880" cy="411480"/>
          </a:xfrm>
          <a:prstGeom prst="rect">
            <a:avLst/>
          </a:prstGeom>
          <a:solidFill>
            <a:srgbClr val="B47A7A"/>
          </a:solidFill>
          <a:ln w="12700">
            <a:solidFill>
              <a:srgbClr val="B47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229600" y="3108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I/O → TCM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257032" y="35661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MIC: 320 B (8 kHz mono, 20 ms)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257032" y="38587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OUT: 3.84 KB (48 kHz stereo, 20 ms)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257032" y="41513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DSP reads/writes via ISR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257032" y="444398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Total audio: 4 KB TCM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11480" y="5166360"/>
            <a:ext cx="11365992" cy="1188720"/>
          </a:xfrm>
          <a:prstGeom prst="roundRect">
            <a:avLst>
              <a:gd name="adj" fmla="val 5385"/>
            </a:avLst>
          </a:prstGeom>
          <a:solidFill>
            <a:srgbClr val="F8ECEB"/>
          </a:solidFill>
          <a:ln w="9525">
            <a:solidFill>
              <a:srgbClr val="D49B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94360" y="5257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TCM, not OCM, for these 36 KB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94360" y="55321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DFE writes are hardware-paced at 2.17 Msps. A cache miss to OCM (5 cy) during a DFE write could be acceptable, but a bus contention or arbitration delay is not — we cannot afford the risk of dropped samples. TCM gives 1-cycle deterministic write with no bus arbitration. The audio buffers follow the same logic — ISR-paced, no slack.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65760" y="651967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timing  ·  TCM justification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595360" y="651967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SS2000 Confidential  ·  v7.1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optimization policy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-Os + LTO=ON for DSP Core codec/L1  ·  -O3 OK for Application Core application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20624" y="1307592"/>
            <a:ext cx="1691640" cy="365760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75488" y="136245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12264" y="1307592"/>
            <a:ext cx="1280160" cy="365760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167128" y="136245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-O3 size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92424" y="1307592"/>
            <a:ext cx="1280160" cy="365760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47288" y="136245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-O3 MHz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72584" y="1307592"/>
            <a:ext cx="1280160" cy="365760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27448" y="136245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-Os size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52744" y="1307592"/>
            <a:ext cx="1280160" cy="365760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007608" y="136245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-Os MHz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32904" y="1307592"/>
            <a:ext cx="1554480" cy="365760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287768" y="1362456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saved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87384" y="1307592"/>
            <a:ext cx="2929128" cy="365760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842247" y="1362456"/>
            <a:ext cx="270944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MHz cost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0624" y="1673352"/>
            <a:ext cx="1691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5488" y="172821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NB-AMR (full)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12264" y="1673352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167128" y="172821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 KB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92424" y="1673352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447288" y="172821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72584" y="1673352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27448" y="172821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KB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52744" y="1673352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007608" y="172821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32904" y="1673352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287768" y="1728216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-70%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787384" y="1673352"/>
            <a:ext cx="292912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842247" y="1728216"/>
            <a:ext cx="270944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+53%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0624" y="2039112"/>
            <a:ext cx="169164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5488" y="209397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GSM-HR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112264" y="2039112"/>
            <a:ext cx="128016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167128" y="209397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KB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92424" y="2039112"/>
            <a:ext cx="128016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447288" y="209397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72584" y="2039112"/>
            <a:ext cx="128016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727448" y="209397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KB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52744" y="2039112"/>
            <a:ext cx="128016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007608" y="209397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232904" y="2039112"/>
            <a:ext cx="15544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287768" y="2093976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787384" y="2039112"/>
            <a:ext cx="2929128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842247" y="2093976"/>
            <a:ext cx="270944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20624" y="2404872"/>
            <a:ext cx="1691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75488" y="24597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GSM-FR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112264" y="2404872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167128" y="245973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KB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392424" y="2404872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3447288" y="245973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72584" y="2404872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727448" y="245973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KB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952744" y="2404872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007608" y="245973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232904" y="2404872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7287768" y="2459736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-79%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787384" y="2404872"/>
            <a:ext cx="292912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8842247" y="2459736"/>
            <a:ext cx="270944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20624" y="2770632"/>
            <a:ext cx="169164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75488" y="282549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 + NS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112264" y="2770632"/>
            <a:ext cx="128016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2167128" y="282549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KB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392424" y="2770632"/>
            <a:ext cx="128016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447288" y="282549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672584" y="2770632"/>
            <a:ext cx="128016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727448" y="282549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KB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952744" y="2770632"/>
            <a:ext cx="128016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6007608" y="282549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232904" y="2770632"/>
            <a:ext cx="15544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7287768" y="2825496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-42%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787384" y="2770632"/>
            <a:ext cx="2929128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8842247" y="2825496"/>
            <a:ext cx="270944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20624" y="3136392"/>
            <a:ext cx="1691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475488" y="319125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Enc+Dec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2112264" y="3136392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167128" y="319125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 KB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3392424" y="3136392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3447288" y="319125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4672584" y="3136392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4727448" y="319125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KB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5952744" y="3136392"/>
            <a:ext cx="12801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6007608" y="319125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232904" y="3136392"/>
            <a:ext cx="1554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7287768" y="3191256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-35%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8787384" y="3136392"/>
            <a:ext cx="292912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8842247" y="3191256"/>
            <a:ext cx="270944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+21%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420624" y="3502152"/>
            <a:ext cx="169164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475488" y="355701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 Decoder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2112264" y="3502152"/>
            <a:ext cx="128016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2167128" y="355701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KB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3392424" y="3502152"/>
            <a:ext cx="128016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3447288" y="355701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4672584" y="3502152"/>
            <a:ext cx="128016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727448" y="355701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KB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5952744" y="3502152"/>
            <a:ext cx="128016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6007608" y="355701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7232904" y="3502152"/>
            <a:ext cx="15544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7287768" y="3557016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-56%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8787384" y="3502152"/>
            <a:ext cx="2929128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8842247" y="3557016"/>
            <a:ext cx="270944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411480" y="4069080"/>
            <a:ext cx="3447882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6510">
            <a:solidFill>
              <a:srgbClr val="9DBF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411480" y="4069080"/>
            <a:ext cx="3447882" cy="365760"/>
          </a:xfrm>
          <a:prstGeom prst="rect">
            <a:avLst/>
          </a:prstGeom>
          <a:solidFill>
            <a:srgbClr val="9DBFA3"/>
          </a:solidFill>
          <a:ln w="12700">
            <a:solidFill>
              <a:srgbClr val="9DBF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502920" y="4114800"/>
            <a:ext cx="327969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-Os + LTO ON for DSP Core</a:t>
            </a:r>
            <a:endParaRPr lang="en-US" sz="1300" dirty="0"/>
          </a:p>
        </p:txBody>
      </p:sp>
      <p:sp>
        <p:nvSpPr>
          <p:cNvPr id="105" name="Text 103"/>
          <p:cNvSpPr/>
          <p:nvPr/>
        </p:nvSpPr>
        <p:spPr>
          <a:xfrm>
            <a:off x="548640" y="4526280"/>
            <a:ext cx="319559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shrinks code 40-70% at +10-50% MHz.  DSP Core budget has 500+ MHz slack at 700 MHz target.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4343400" y="4069080"/>
            <a:ext cx="3447882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6510">
            <a:solidFill>
              <a:srgbClr val="7FA8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Shape 105"/>
          <p:cNvSpPr/>
          <p:nvPr/>
        </p:nvSpPr>
        <p:spPr>
          <a:xfrm>
            <a:off x="4343400" y="4069080"/>
            <a:ext cx="3447882" cy="365760"/>
          </a:xfrm>
          <a:prstGeom prst="rect">
            <a:avLst/>
          </a:prstGeom>
          <a:solidFill>
            <a:srgbClr val="7FA8C9"/>
          </a:solidFill>
          <a:ln w="12700">
            <a:solidFill>
              <a:srgbClr val="7FA8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4434840" y="4114800"/>
            <a:ext cx="327969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-O3 OK for Application Core</a:t>
            </a:r>
            <a:endParaRPr lang="en-US" sz="1300" dirty="0"/>
          </a:p>
        </p:txBody>
      </p:sp>
      <p:sp>
        <p:nvSpPr>
          <p:cNvPr id="109" name="Text 107"/>
          <p:cNvSpPr/>
          <p:nvPr/>
        </p:nvSpPr>
        <p:spPr>
          <a:xfrm>
            <a:off x="4480560" y="4526280"/>
            <a:ext cx="319559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has soft real-time, cache hides flash/PSRAM misses.  Optimize for speed in MMI loops.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8275320" y="4069080"/>
            <a:ext cx="3447882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6510">
            <a:solidFill>
              <a:srgbClr val="D49B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Shape 109"/>
          <p:cNvSpPr/>
          <p:nvPr/>
        </p:nvSpPr>
        <p:spPr>
          <a:xfrm>
            <a:off x="8275320" y="4069080"/>
            <a:ext cx="3447882" cy="365760"/>
          </a:xfrm>
          <a:prstGeom prst="rect">
            <a:avLst/>
          </a:prstGeom>
          <a:solidFill>
            <a:srgbClr val="D49B9B"/>
          </a:solidFill>
          <a:ln w="12700">
            <a:solidFill>
              <a:srgbClr val="D49B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8366760" y="4114800"/>
            <a:ext cx="327969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 codec policy</a:t>
            </a:r>
            <a:endParaRPr lang="en-US" sz="1300" dirty="0"/>
          </a:p>
        </p:txBody>
      </p:sp>
      <p:sp>
        <p:nvSpPr>
          <p:cNvPr id="113" name="Text 111"/>
          <p:cNvSpPr/>
          <p:nvPr/>
        </p:nvSpPr>
        <p:spPr>
          <a:xfrm>
            <a:off x="8412480" y="4526280"/>
            <a:ext cx="319559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AMR/EFR has 8 negotiated modes.  Only one active per call.  Single-mode = ~50% of full-codec.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411480" y="5669280"/>
            <a:ext cx="11365992" cy="685800"/>
          </a:xfrm>
          <a:prstGeom prst="roundRect">
            <a:avLst>
              <a:gd name="adj" fmla="val 9333"/>
            </a:avLst>
          </a:prstGeom>
          <a:solidFill>
            <a:srgbClr val="DDEAD8"/>
          </a:solidFill>
          <a:ln w="9525">
            <a:solidFill>
              <a:srgbClr val="9DBF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Text 113"/>
          <p:cNvSpPr/>
          <p:nvPr/>
        </p:nvSpPr>
        <p:spPr>
          <a:xfrm>
            <a:off x="594360" y="5715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594360" y="5943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pipeline: -Os + LTO=ON for DSP Core codec / L1 / AEC / NS  ·  -O3 for Application Core app  ·  Lint rule to prevent accidental DSP Core -O3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365760" y="651967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policy</a:t>
            </a:r>
            <a:endParaRPr lang="en-US" sz="1000" dirty="0"/>
          </a:p>
        </p:txBody>
      </p:sp>
      <p:sp>
        <p:nvSpPr>
          <p:cNvPr id="119" name="Text 117"/>
          <p:cNvSpPr/>
          <p:nvPr/>
        </p:nvSpPr>
        <p:spPr>
          <a:xfrm>
            <a:off x="8595360" y="651967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SS2000 Confidential  ·  v7.1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L1 PHY + per-block memory allocations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GSM_L1memusage.xlsx (RV32 -O3)  +  system architect per-block spec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347472"/>
          </a:xfrm>
          <a:prstGeom prst="rect">
            <a:avLst/>
          </a:prstGeom>
          <a:solidFill>
            <a:srgbClr val="7FA8C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38328" y="123444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17520" y="1188720"/>
            <a:ext cx="1920240" cy="347472"/>
          </a:xfrm>
          <a:prstGeom prst="rect">
            <a:avLst/>
          </a:prstGeom>
          <a:solidFill>
            <a:srgbClr val="7FA8C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081528" y="123444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188720"/>
            <a:ext cx="1005840" cy="347472"/>
          </a:xfrm>
          <a:prstGeom prst="rect">
            <a:avLst/>
          </a:prstGeom>
          <a:solidFill>
            <a:srgbClr val="7FA8C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01768" y="123444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188720"/>
            <a:ext cx="1188720" cy="347472"/>
          </a:xfrm>
          <a:prstGeom prst="rect">
            <a:avLst/>
          </a:prstGeom>
          <a:solidFill>
            <a:srgbClr val="7FA8C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007608" y="1234440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0" y="1188720"/>
            <a:ext cx="1097280" cy="347472"/>
          </a:xfrm>
          <a:prstGeom prst="rect">
            <a:avLst/>
          </a:prstGeom>
          <a:solidFill>
            <a:srgbClr val="7FA8C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196328" y="123444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685032" cy="347472"/>
          </a:xfrm>
          <a:prstGeom prst="rect">
            <a:avLst/>
          </a:prstGeom>
          <a:solidFill>
            <a:srgbClr val="7FA8C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93608" y="1234440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536192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38328" y="1581912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PHY (-O3, measured)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17520" y="1536192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81528" y="1581912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GSM_L1memusage.xlsx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1536192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01768" y="1581912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 KB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1536192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007608" y="1581912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44.6 KB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32320" y="1536192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196328" y="1581912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KB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1536192"/>
            <a:ext cx="36850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293608" y="1581912"/>
            <a:ext cx="3559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MLSE equalizer dominant in .bss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1883664"/>
            <a:ext cx="2743200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38328" y="1929384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DM (per-mode)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017520" y="1883664"/>
            <a:ext cx="1920240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081528" y="1929384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-Os per Raghava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1883664"/>
            <a:ext cx="1005840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001768" y="1929384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0" y="1883664"/>
            <a:ext cx="1188720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007608" y="1929384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KB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32320" y="1883664"/>
            <a:ext cx="1097280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196328" y="1929384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KB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29600" y="1883664"/>
            <a:ext cx="3685032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293608" y="1929384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AMR mode active per call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2231136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38328" y="2276856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 + NS DM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017520" y="2231136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081528" y="2276856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37760" y="2231136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001768" y="2276856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43600" y="2231136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007608" y="2276856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KB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132320" y="2231136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7196328" y="2276856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KB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229600" y="2231136"/>
            <a:ext cx="36850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8293608" y="2276856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Time-banked across TDMA frames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2578608"/>
            <a:ext cx="2743200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38328" y="2624328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scratch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017520" y="2578608"/>
            <a:ext cx="1920240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081528" y="2624328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937760" y="2578608"/>
            <a:ext cx="1005840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5001768" y="262432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943600" y="2578608"/>
            <a:ext cx="1188720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007608" y="2624328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KB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132320" y="2578608"/>
            <a:ext cx="1097280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7196328" y="2624328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KB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229600" y="2578608"/>
            <a:ext cx="3685032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8293608" y="2624328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74320" y="2926080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38328" y="297180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buffers + ISR stack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017520" y="2926080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3081528" y="297180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937760" y="2926080"/>
            <a:ext cx="1005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5001768" y="297180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943600" y="2926080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6007608" y="2971800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KB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132320" y="2926080"/>
            <a:ext cx="1097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7196328" y="297180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KB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8229600" y="2926080"/>
            <a:ext cx="368503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8293608" y="2971800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DMA + RTOS ISR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74320" y="3273552"/>
            <a:ext cx="274320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338328" y="3319272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DFE-Rx HW-&gt;DSP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017520" y="3273552"/>
            <a:ext cx="192024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3081528" y="3319272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937760" y="3273552"/>
            <a:ext cx="100584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5001768" y="3319272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5943600" y="3273552"/>
            <a:ext cx="118872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6007608" y="3319272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KB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7132320" y="3273552"/>
            <a:ext cx="109728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7196328" y="3319272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KB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8229600" y="3273552"/>
            <a:ext cx="3685032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8293608" y="3319272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DSP-CPU TCM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274320" y="3621024"/>
            <a:ext cx="274320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338328" y="3666744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DFE-Tx DSP-&gt;HW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3017520" y="3621024"/>
            <a:ext cx="192024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3081528" y="3666744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4937760" y="3621024"/>
            <a:ext cx="100584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5001768" y="3666744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5943600" y="3621024"/>
            <a:ext cx="118872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6007608" y="3666744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KB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7132320" y="3621024"/>
            <a:ext cx="109728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7196328" y="3666744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KB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8229600" y="3621024"/>
            <a:ext cx="3685032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8293608" y="3666744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DSP-CPU TCM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274320" y="3968496"/>
            <a:ext cx="274320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338328" y="4014216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Audio-MIC-&gt;DSP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3017520" y="3968496"/>
            <a:ext cx="192024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101"/>
          <p:cNvSpPr/>
          <p:nvPr/>
        </p:nvSpPr>
        <p:spPr>
          <a:xfrm>
            <a:off x="3081528" y="4014216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4937760" y="3968496"/>
            <a:ext cx="100584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103"/>
          <p:cNvSpPr/>
          <p:nvPr/>
        </p:nvSpPr>
        <p:spPr>
          <a:xfrm>
            <a:off x="5001768" y="4014216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5943600" y="3968496"/>
            <a:ext cx="118872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6007608" y="4014216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B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7132320" y="3968496"/>
            <a:ext cx="109728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7196328" y="4014216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KB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8229600" y="3968496"/>
            <a:ext cx="3685032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8293608" y="4014216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DSP-CPU TCM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274320" y="4315968"/>
            <a:ext cx="274320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338328" y="4361688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DSP-&gt;Audio-out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3017520" y="4315968"/>
            <a:ext cx="192024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Text 113"/>
          <p:cNvSpPr/>
          <p:nvPr/>
        </p:nvSpPr>
        <p:spPr>
          <a:xfrm>
            <a:off x="3081528" y="4361688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4937760" y="4315968"/>
            <a:ext cx="100584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5"/>
          <p:cNvSpPr/>
          <p:nvPr/>
        </p:nvSpPr>
        <p:spPr>
          <a:xfrm>
            <a:off x="5001768" y="4361688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5943600" y="4315968"/>
            <a:ext cx="118872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6007608" y="4361688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3840 B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7132320" y="4315968"/>
            <a:ext cx="109728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7196328" y="4361688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 KB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8229600" y="4315968"/>
            <a:ext cx="3685032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8293608" y="4361688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kHz stereo, 20ms, double-buffered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274320" y="4663440"/>
            <a:ext cx="274320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338328" y="470916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+ GP ADC/DAC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3017520" y="4663440"/>
            <a:ext cx="192024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3081528" y="4709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4937760" y="4663440"/>
            <a:ext cx="100584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5001768" y="470916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5943600" y="4663440"/>
            <a:ext cx="118872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1" name="Text 129"/>
          <p:cNvSpPr/>
          <p:nvPr/>
        </p:nvSpPr>
        <p:spPr>
          <a:xfrm>
            <a:off x="6007608" y="4709160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KB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7132320" y="4663440"/>
            <a:ext cx="1097280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31"/>
          <p:cNvSpPr/>
          <p:nvPr/>
        </p:nvSpPr>
        <p:spPr>
          <a:xfrm>
            <a:off x="7196328" y="470916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KB</a:t>
            </a:r>
            <a:endParaRPr lang="en-US" sz="1000" dirty="0"/>
          </a:p>
        </p:txBody>
      </p:sp>
      <p:sp>
        <p:nvSpPr>
          <p:cNvPr id="134" name="Shape 132"/>
          <p:cNvSpPr/>
          <p:nvPr/>
        </p:nvSpPr>
        <p:spPr>
          <a:xfrm>
            <a:off x="8229600" y="4663440"/>
            <a:ext cx="3685032" cy="347472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8293608" y="4709160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OCM uncached carve-out (on AXI)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274320" y="5010912"/>
            <a:ext cx="2743200" cy="347472"/>
          </a:xfrm>
          <a:prstGeom prst="rect">
            <a:avLst/>
          </a:prstGeom>
          <a:solidFill>
            <a:srgbClr val="F0E2C4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Text 135"/>
          <p:cNvSpPr/>
          <p:nvPr/>
        </p:nvSpPr>
        <p:spPr>
          <a:xfrm>
            <a:off x="338328" y="5056632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Core SRAM TOTAL</a:t>
            </a:r>
            <a:endParaRPr lang="en-US" sz="1000" dirty="0"/>
          </a:p>
        </p:txBody>
      </p:sp>
      <p:sp>
        <p:nvSpPr>
          <p:cNvPr id="138" name="Shape 136"/>
          <p:cNvSpPr/>
          <p:nvPr/>
        </p:nvSpPr>
        <p:spPr>
          <a:xfrm>
            <a:off x="3017520" y="5010912"/>
            <a:ext cx="1920240" cy="347472"/>
          </a:xfrm>
          <a:prstGeom prst="rect">
            <a:avLst/>
          </a:prstGeom>
          <a:solidFill>
            <a:srgbClr val="F0E2C4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Text 137"/>
          <p:cNvSpPr/>
          <p:nvPr/>
        </p:nvSpPr>
        <p:spPr>
          <a:xfrm>
            <a:off x="3081528" y="5056632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4937760" y="5010912"/>
            <a:ext cx="1005840" cy="347472"/>
          </a:xfrm>
          <a:prstGeom prst="rect">
            <a:avLst/>
          </a:prstGeom>
          <a:solidFill>
            <a:srgbClr val="F0E2C4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1" name="Text 139"/>
          <p:cNvSpPr/>
          <p:nvPr/>
        </p:nvSpPr>
        <p:spPr>
          <a:xfrm>
            <a:off x="5001768" y="5056632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142" name="Shape 140"/>
          <p:cNvSpPr/>
          <p:nvPr/>
        </p:nvSpPr>
        <p:spPr>
          <a:xfrm>
            <a:off x="5943600" y="5010912"/>
            <a:ext cx="1188720" cy="347472"/>
          </a:xfrm>
          <a:prstGeom prst="rect">
            <a:avLst/>
          </a:prstGeom>
          <a:solidFill>
            <a:srgbClr val="F0E2C4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3" name="Text 141"/>
          <p:cNvSpPr/>
          <p:nvPr/>
        </p:nvSpPr>
        <p:spPr>
          <a:xfrm>
            <a:off x="6007608" y="5056632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144" name="Shape 142"/>
          <p:cNvSpPr/>
          <p:nvPr/>
        </p:nvSpPr>
        <p:spPr>
          <a:xfrm>
            <a:off x="7132320" y="5010912"/>
            <a:ext cx="1097280" cy="347472"/>
          </a:xfrm>
          <a:prstGeom prst="rect">
            <a:avLst/>
          </a:prstGeom>
          <a:solidFill>
            <a:srgbClr val="F0E2C4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5" name="Text 143"/>
          <p:cNvSpPr/>
          <p:nvPr/>
        </p:nvSpPr>
        <p:spPr>
          <a:xfrm>
            <a:off x="7196328" y="5056632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353 KB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>
            <a:off x="8229600" y="5010912"/>
            <a:ext cx="3685032" cy="347472"/>
          </a:xfrm>
          <a:prstGeom prst="rect">
            <a:avLst/>
          </a:prstGeom>
          <a:solidFill>
            <a:srgbClr val="F0E2C4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7" name="Text 145"/>
          <p:cNvSpPr/>
          <p:nvPr/>
        </p:nvSpPr>
        <p:spPr>
          <a:xfrm>
            <a:off x="8293608" y="5056632"/>
            <a:ext cx="3559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OCM 256 + TCM 36 + cache 24 + IPC 5</a:t>
            </a:r>
            <a:endParaRPr lang="en-US" sz="1000" dirty="0"/>
          </a:p>
        </p:txBody>
      </p:sp>
      <p:sp>
        <p:nvSpPr>
          <p:cNvPr id="148" name="Shape 146"/>
          <p:cNvSpPr/>
          <p:nvPr/>
        </p:nvSpPr>
        <p:spPr>
          <a:xfrm>
            <a:off x="274320" y="5449824"/>
            <a:ext cx="11640312" cy="594360"/>
          </a:xfrm>
          <a:prstGeom prst="roundRect">
            <a:avLst>
              <a:gd name="adj" fmla="val 10769"/>
            </a:avLst>
          </a:prstGeom>
          <a:solidFill>
            <a:srgbClr val="DDEAD8"/>
          </a:solidFill>
          <a:ln w="9525">
            <a:solidFill>
              <a:srgbClr val="9DBF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457200" y="5504688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L1 measured · codec/AEC/NS projected at -Os · DFE + audio + IPC from system architect spec</a:t>
            </a:r>
            <a:endParaRPr lang="en-US" sz="1100" dirty="0"/>
          </a:p>
        </p:txBody>
      </p:sp>
      <p:sp>
        <p:nvSpPr>
          <p:cNvPr id="150" name="Shape 14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65760" y="651967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+ per-block spec  ·  DSP Core 353 KB total</a:t>
            </a:r>
            <a:endParaRPr lang="en-US" sz="1000" dirty="0"/>
          </a:p>
        </p:txBody>
      </p:sp>
      <p:sp>
        <p:nvSpPr>
          <p:cNvPr id="152" name="Text 150"/>
          <p:cNvSpPr/>
          <p:nvPr/>
        </p:nvSpPr>
        <p:spPr>
          <a:xfrm>
            <a:off x="8595360" y="651967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SS2000 Confidential  ·  v7.1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catalog at -Os / LTO=ON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Raghava measurements on BL808 RV32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2103120" cy="365760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84632" y="1335024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14600" y="1280160"/>
            <a:ext cx="1325880" cy="365760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587752" y="133502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40480" y="1280160"/>
            <a:ext cx="1417320" cy="365760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913632" y="1335024"/>
            <a:ext cx="1271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IMEM @-Os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57800" y="1280160"/>
            <a:ext cx="1325880" cy="365760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330952" y="133502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tables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0" y="1280160"/>
            <a:ext cx="1325880" cy="365760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656832" y="133502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09560" y="1280160"/>
            <a:ext cx="3840480" cy="365760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982712" y="1335024"/>
            <a:ext cx="3690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 active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1645920"/>
            <a:ext cx="2103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4632" y="1700784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NB-AMR (full 8 modes)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14600" y="164592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587752" y="170078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0" y="164592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913632" y="1700784"/>
            <a:ext cx="1271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KB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257800" y="164592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30952" y="170078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KB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0" y="164592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656832" y="170078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KB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909560" y="1645920"/>
            <a:ext cx="3840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982712" y="1700784"/>
            <a:ext cx="3690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 KB single mode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2011680"/>
            <a:ext cx="210312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4632" y="2066544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GSM-HR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14600" y="2011680"/>
            <a:ext cx="13258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587752" y="206654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840480" y="2011680"/>
            <a:ext cx="141732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913632" y="2066544"/>
            <a:ext cx="1271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KB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257800" y="2011680"/>
            <a:ext cx="13258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330952" y="206654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KB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83680" y="2011680"/>
            <a:ext cx="13258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656832" y="206654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KB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909560" y="2011680"/>
            <a:ext cx="38404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982712" y="2066544"/>
            <a:ext cx="3690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modes - 51 KB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11480" y="2377440"/>
            <a:ext cx="2103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84632" y="2432304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GSM-FR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514600" y="237744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2587752" y="243230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840480" y="237744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913632" y="2432304"/>
            <a:ext cx="1271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KB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257800" y="237744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330952" y="243230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KB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583680" y="237744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656832" y="243230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KB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909560" y="2377440"/>
            <a:ext cx="3840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7982712" y="2432304"/>
            <a:ext cx="3690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11480" y="2743200"/>
            <a:ext cx="210312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84632" y="2798064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GSM-EFR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514600" y="2743200"/>
            <a:ext cx="13258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2587752" y="279806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840480" y="2743200"/>
            <a:ext cx="141732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913632" y="2798064"/>
            <a:ext cx="1271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KB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257800" y="2743200"/>
            <a:ext cx="13258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5330952" y="279806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KB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583680" y="2743200"/>
            <a:ext cx="13258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656832" y="279806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KB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909560" y="2743200"/>
            <a:ext cx="38404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7982712" y="2798064"/>
            <a:ext cx="3690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AMR-12.2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11480" y="3108960"/>
            <a:ext cx="2103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484632" y="3163824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 Decoder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514600" y="310896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2587752" y="316382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3840480" y="310896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3913632" y="3163824"/>
            <a:ext cx="1271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KB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5257800" y="310896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5330952" y="316382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KB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6583680" y="310896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6656832" y="316382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KB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909560" y="3108960"/>
            <a:ext cx="3840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7982712" y="3163824"/>
            <a:ext cx="3690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411480" y="3474720"/>
            <a:ext cx="210312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484632" y="3529584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AAC Decoder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514600" y="3474720"/>
            <a:ext cx="13258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2587752" y="352958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3840480" y="3474720"/>
            <a:ext cx="141732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3913632" y="3529584"/>
            <a:ext cx="1271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KB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5257800" y="3474720"/>
            <a:ext cx="13258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5330952" y="352958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KB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6583680" y="3474720"/>
            <a:ext cx="13258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6656832" y="352958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KB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7909560" y="3474720"/>
            <a:ext cx="38404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7982712" y="3529584"/>
            <a:ext cx="3690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several profiles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411480" y="3840480"/>
            <a:ext cx="2103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484632" y="3895344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 Decoder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2514600" y="384048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2587752" y="389534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3840480" y="384048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3913632" y="3895344"/>
            <a:ext cx="1271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KB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5257800" y="384048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5330952" y="389534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KB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6583680" y="384048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6656832" y="389534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KB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7909560" y="3840480"/>
            <a:ext cx="3840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7982712" y="3895344"/>
            <a:ext cx="3690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411480" y="4206240"/>
            <a:ext cx="210312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484632" y="4261104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 + NS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2514600" y="4206240"/>
            <a:ext cx="13258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101"/>
          <p:cNvSpPr/>
          <p:nvPr/>
        </p:nvSpPr>
        <p:spPr>
          <a:xfrm>
            <a:off x="2587752" y="426110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50" dirty="0"/>
          </a:p>
        </p:txBody>
      </p:sp>
      <p:sp>
        <p:nvSpPr>
          <p:cNvPr id="104" name="Shape 102"/>
          <p:cNvSpPr/>
          <p:nvPr/>
        </p:nvSpPr>
        <p:spPr>
          <a:xfrm>
            <a:off x="3840480" y="4206240"/>
            <a:ext cx="141732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103"/>
          <p:cNvSpPr/>
          <p:nvPr/>
        </p:nvSpPr>
        <p:spPr>
          <a:xfrm>
            <a:off x="3913632" y="4261104"/>
            <a:ext cx="1271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KB</a:t>
            </a:r>
            <a:endParaRPr lang="en-US" sz="1050" dirty="0"/>
          </a:p>
        </p:txBody>
      </p:sp>
      <p:sp>
        <p:nvSpPr>
          <p:cNvPr id="106" name="Shape 104"/>
          <p:cNvSpPr/>
          <p:nvPr/>
        </p:nvSpPr>
        <p:spPr>
          <a:xfrm>
            <a:off x="5257800" y="4206240"/>
            <a:ext cx="13258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5330952" y="426110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KB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6583680" y="4206240"/>
            <a:ext cx="13258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6656832" y="426110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KB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7909560" y="4206240"/>
            <a:ext cx="38404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7982712" y="4261104"/>
            <a:ext cx="3690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 and NS in different frames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411480" y="4572000"/>
            <a:ext cx="2103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484632" y="4626864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Enc+Dec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2514600" y="457200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Text 113"/>
          <p:cNvSpPr/>
          <p:nvPr/>
        </p:nvSpPr>
        <p:spPr>
          <a:xfrm>
            <a:off x="2587752" y="462686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50" dirty="0"/>
          </a:p>
        </p:txBody>
      </p:sp>
      <p:sp>
        <p:nvSpPr>
          <p:cNvPr id="116" name="Shape 114"/>
          <p:cNvSpPr/>
          <p:nvPr/>
        </p:nvSpPr>
        <p:spPr>
          <a:xfrm>
            <a:off x="3840480" y="4572000"/>
            <a:ext cx="14173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5"/>
          <p:cNvSpPr/>
          <p:nvPr/>
        </p:nvSpPr>
        <p:spPr>
          <a:xfrm>
            <a:off x="3913632" y="4626864"/>
            <a:ext cx="1271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KB</a:t>
            </a:r>
            <a:endParaRPr lang="en-US" sz="1050" dirty="0"/>
          </a:p>
        </p:txBody>
      </p:sp>
      <p:sp>
        <p:nvSpPr>
          <p:cNvPr id="118" name="Shape 116"/>
          <p:cNvSpPr/>
          <p:nvPr/>
        </p:nvSpPr>
        <p:spPr>
          <a:xfrm>
            <a:off x="5257800" y="457200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5330952" y="462686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KB</a:t>
            </a:r>
            <a:endParaRPr lang="en-US" sz="1050" dirty="0"/>
          </a:p>
        </p:txBody>
      </p:sp>
      <p:sp>
        <p:nvSpPr>
          <p:cNvPr id="120" name="Shape 118"/>
          <p:cNvSpPr/>
          <p:nvPr/>
        </p:nvSpPr>
        <p:spPr>
          <a:xfrm>
            <a:off x="6583680" y="4572000"/>
            <a:ext cx="1325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6656832" y="462686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KB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7909560" y="4572000"/>
            <a:ext cx="3840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7982712" y="4626864"/>
            <a:ext cx="3690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OCM, no banking needed</a:t>
            </a:r>
            <a:endParaRPr lang="en-US" sz="1050" dirty="0"/>
          </a:p>
        </p:txBody>
      </p:sp>
      <p:sp>
        <p:nvSpPr>
          <p:cNvPr id="124" name="Shape 122"/>
          <p:cNvSpPr/>
          <p:nvPr/>
        </p:nvSpPr>
        <p:spPr>
          <a:xfrm>
            <a:off x="411480" y="4937760"/>
            <a:ext cx="210312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84632" y="4992624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scratch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2514600" y="4937760"/>
            <a:ext cx="13258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2587752" y="499262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3840480" y="4937760"/>
            <a:ext cx="141732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3913632" y="4992624"/>
            <a:ext cx="1271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50" dirty="0"/>
          </a:p>
        </p:txBody>
      </p:sp>
      <p:sp>
        <p:nvSpPr>
          <p:cNvPr id="130" name="Shape 128"/>
          <p:cNvSpPr/>
          <p:nvPr/>
        </p:nvSpPr>
        <p:spPr>
          <a:xfrm>
            <a:off x="5257800" y="4937760"/>
            <a:ext cx="13258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1" name="Text 129"/>
          <p:cNvSpPr/>
          <p:nvPr/>
        </p:nvSpPr>
        <p:spPr>
          <a:xfrm>
            <a:off x="5330952" y="499262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50" dirty="0"/>
          </a:p>
        </p:txBody>
      </p:sp>
      <p:sp>
        <p:nvSpPr>
          <p:cNvPr id="132" name="Shape 130"/>
          <p:cNvSpPr/>
          <p:nvPr/>
        </p:nvSpPr>
        <p:spPr>
          <a:xfrm>
            <a:off x="6583680" y="4937760"/>
            <a:ext cx="13258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31"/>
          <p:cNvSpPr/>
          <p:nvPr/>
        </p:nvSpPr>
        <p:spPr>
          <a:xfrm>
            <a:off x="6656832" y="499262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KB</a:t>
            </a:r>
            <a:endParaRPr lang="en-US" sz="1050" dirty="0"/>
          </a:p>
        </p:txBody>
      </p:sp>
      <p:sp>
        <p:nvSpPr>
          <p:cNvPr id="134" name="Shape 132"/>
          <p:cNvSpPr/>
          <p:nvPr/>
        </p:nvSpPr>
        <p:spPr>
          <a:xfrm>
            <a:off x="7909560" y="4937760"/>
            <a:ext cx="38404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7982712" y="4992624"/>
            <a:ext cx="3690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50" dirty="0"/>
          </a:p>
        </p:txBody>
      </p:sp>
      <p:sp>
        <p:nvSpPr>
          <p:cNvPr id="136" name="Shape 134"/>
          <p:cNvSpPr/>
          <p:nvPr/>
        </p:nvSpPr>
        <p:spPr>
          <a:xfrm>
            <a:off x="411480" y="5303520"/>
            <a:ext cx="2103120" cy="365760"/>
          </a:xfrm>
          <a:prstGeom prst="rect">
            <a:avLst/>
          </a:prstGeom>
          <a:solidFill>
            <a:srgbClr val="F0E2C4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Text 135"/>
          <p:cNvSpPr/>
          <p:nvPr/>
        </p:nvSpPr>
        <p:spPr>
          <a:xfrm>
            <a:off x="484632" y="5358384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Receiver</a:t>
            </a:r>
            <a:endParaRPr lang="en-US" sz="1050" dirty="0"/>
          </a:p>
        </p:txBody>
      </p:sp>
      <p:sp>
        <p:nvSpPr>
          <p:cNvPr id="138" name="Shape 136"/>
          <p:cNvSpPr/>
          <p:nvPr/>
        </p:nvSpPr>
        <p:spPr>
          <a:xfrm>
            <a:off x="2514600" y="5303520"/>
            <a:ext cx="1325880" cy="365760"/>
          </a:xfrm>
          <a:prstGeom prst="rect">
            <a:avLst/>
          </a:prstGeom>
          <a:solidFill>
            <a:srgbClr val="F0E2C4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Text 137"/>
          <p:cNvSpPr/>
          <p:nvPr/>
        </p:nvSpPr>
        <p:spPr>
          <a:xfrm>
            <a:off x="2587752" y="535838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050" dirty="0"/>
          </a:p>
        </p:txBody>
      </p:sp>
      <p:sp>
        <p:nvSpPr>
          <p:cNvPr id="140" name="Shape 138"/>
          <p:cNvSpPr/>
          <p:nvPr/>
        </p:nvSpPr>
        <p:spPr>
          <a:xfrm>
            <a:off x="3840480" y="5303520"/>
            <a:ext cx="1417320" cy="365760"/>
          </a:xfrm>
          <a:prstGeom prst="rect">
            <a:avLst/>
          </a:prstGeom>
          <a:solidFill>
            <a:srgbClr val="F0E2C4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1" name="Text 139"/>
          <p:cNvSpPr/>
          <p:nvPr/>
        </p:nvSpPr>
        <p:spPr>
          <a:xfrm>
            <a:off x="3913632" y="5358384"/>
            <a:ext cx="1271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50" dirty="0"/>
          </a:p>
        </p:txBody>
      </p:sp>
      <p:sp>
        <p:nvSpPr>
          <p:cNvPr id="142" name="Shape 140"/>
          <p:cNvSpPr/>
          <p:nvPr/>
        </p:nvSpPr>
        <p:spPr>
          <a:xfrm>
            <a:off x="5257800" y="5303520"/>
            <a:ext cx="1325880" cy="365760"/>
          </a:xfrm>
          <a:prstGeom prst="rect">
            <a:avLst/>
          </a:prstGeom>
          <a:solidFill>
            <a:srgbClr val="F0E2C4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3" name="Text 141"/>
          <p:cNvSpPr/>
          <p:nvPr/>
        </p:nvSpPr>
        <p:spPr>
          <a:xfrm>
            <a:off x="5330952" y="535838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50" dirty="0"/>
          </a:p>
        </p:txBody>
      </p:sp>
      <p:sp>
        <p:nvSpPr>
          <p:cNvPr id="144" name="Shape 142"/>
          <p:cNvSpPr/>
          <p:nvPr/>
        </p:nvSpPr>
        <p:spPr>
          <a:xfrm>
            <a:off x="6583680" y="5303520"/>
            <a:ext cx="1325880" cy="365760"/>
          </a:xfrm>
          <a:prstGeom prst="rect">
            <a:avLst/>
          </a:prstGeom>
          <a:solidFill>
            <a:srgbClr val="F0E2C4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5" name="Text 143"/>
          <p:cNvSpPr/>
          <p:nvPr/>
        </p:nvSpPr>
        <p:spPr>
          <a:xfrm>
            <a:off x="6656832" y="5358384"/>
            <a:ext cx="1179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50" dirty="0"/>
          </a:p>
        </p:txBody>
      </p:sp>
      <p:sp>
        <p:nvSpPr>
          <p:cNvPr id="146" name="Shape 144"/>
          <p:cNvSpPr/>
          <p:nvPr/>
        </p:nvSpPr>
        <p:spPr>
          <a:xfrm>
            <a:off x="7909560" y="5303520"/>
            <a:ext cx="3840480" cy="365760"/>
          </a:xfrm>
          <a:prstGeom prst="rect">
            <a:avLst/>
          </a:prstGeom>
          <a:solidFill>
            <a:srgbClr val="F0E2C4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7" name="Text 145"/>
          <p:cNvSpPr/>
          <p:nvPr/>
        </p:nvSpPr>
        <p:spPr>
          <a:xfrm>
            <a:off x="7982712" y="5358384"/>
            <a:ext cx="3690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 - reserve 16 KB OCM</a:t>
            </a:r>
            <a:endParaRPr lang="en-US" sz="1050" dirty="0"/>
          </a:p>
        </p:txBody>
      </p:sp>
      <p:sp>
        <p:nvSpPr>
          <p:cNvPr id="148" name="Shape 146"/>
          <p:cNvSpPr/>
          <p:nvPr/>
        </p:nvSpPr>
        <p:spPr>
          <a:xfrm>
            <a:off x="411480" y="5760720"/>
            <a:ext cx="11365992" cy="594360"/>
          </a:xfrm>
          <a:prstGeom prst="roundRect">
            <a:avLst>
              <a:gd name="adj" fmla="val 10769"/>
            </a:avLst>
          </a:prstGeom>
          <a:solidFill>
            <a:srgbClr val="EEF3F8"/>
          </a:solidFill>
          <a:ln w="9525">
            <a:solidFill>
              <a:srgbClr val="7FA8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594360" y="58064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8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codecs fit in 256 KB OCM</a:t>
            </a:r>
            <a:endParaRPr lang="en-US" sz="1100" dirty="0"/>
          </a:p>
        </p:txBody>
      </p:sp>
      <p:sp>
        <p:nvSpPr>
          <p:cNvPr id="150" name="Text 148"/>
          <p:cNvSpPr/>
          <p:nvPr/>
        </p:nvSpPr>
        <p:spPr>
          <a:xfrm>
            <a:off x="594360" y="60350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codec (JPEG 108 KB) sits in OCM, served via cache.  Voice + AEC + L1 + JPEG can coexist with margin.  No tile-mode banking required.</a:t>
            </a:r>
            <a:endParaRPr lang="en-US" sz="1050" dirty="0"/>
          </a:p>
        </p:txBody>
      </p:sp>
      <p:sp>
        <p:nvSpPr>
          <p:cNvPr id="151" name="Shape 14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2" name="Text 150"/>
          <p:cNvSpPr/>
          <p:nvPr/>
        </p:nvSpPr>
        <p:spPr>
          <a:xfrm>
            <a:off x="365760" y="651967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catalog</a:t>
            </a:r>
            <a:endParaRPr lang="en-US" sz="1000" dirty="0"/>
          </a:p>
        </p:txBody>
      </p:sp>
      <p:sp>
        <p:nvSpPr>
          <p:cNvPr id="153" name="Text 151"/>
          <p:cNvSpPr/>
          <p:nvPr/>
        </p:nvSpPr>
        <p:spPr>
          <a:xfrm>
            <a:off x="8595360" y="651967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SS2000 Confidential  ·  v7.1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 comparison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MT6261 · SC6531E · SC6533G  vs  SS2000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06040" cy="329184"/>
          </a:xfrm>
          <a:prstGeom prst="rect">
            <a:avLst/>
          </a:prstGeom>
          <a:solidFill>
            <a:srgbClr val="7FA8C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9184" y="1143000"/>
            <a:ext cx="2496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880360" y="1097280"/>
            <a:ext cx="2103120" cy="329184"/>
          </a:xfrm>
          <a:prstGeom prst="rect">
            <a:avLst/>
          </a:prstGeom>
          <a:solidFill>
            <a:srgbClr val="7FA8C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935224" y="1143000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MT6261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983480" y="1097280"/>
            <a:ext cx="2148840" cy="329184"/>
          </a:xfrm>
          <a:prstGeom prst="rect">
            <a:avLst/>
          </a:prstGeom>
          <a:solidFill>
            <a:srgbClr val="7FA8C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38344" y="1143000"/>
            <a:ext cx="2039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SC6531E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0" y="1097280"/>
            <a:ext cx="2240280" cy="329184"/>
          </a:xfrm>
          <a:prstGeom prst="rect">
            <a:avLst/>
          </a:prstGeom>
          <a:solidFill>
            <a:srgbClr val="7FA8C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187184" y="1143000"/>
            <a:ext cx="2130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SC6533G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372600" y="1097280"/>
            <a:ext cx="2423160" cy="329184"/>
          </a:xfrm>
          <a:prstGeom prst="rect">
            <a:avLst/>
          </a:prstGeom>
          <a:solidFill>
            <a:srgbClr val="7FA8C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427464" y="1143000"/>
            <a:ext cx="2306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SS2000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1426464"/>
            <a:ext cx="2606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9184" y="1472184"/>
            <a:ext cx="2496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CPU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80360" y="1426464"/>
            <a:ext cx="2103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935224" y="1472184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ARM7EJ-S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83480" y="1426464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38344" y="1472184"/>
            <a:ext cx="2039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ARM926EJ-S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0" y="1426464"/>
            <a:ext cx="2240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87184" y="1472184"/>
            <a:ext cx="2130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XCPU (RDA RISC)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372600" y="1426464"/>
            <a:ext cx="2423160" cy="329184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427464" y="1472184"/>
            <a:ext cx="2306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RV32 P-ext (Application Core)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1755648"/>
            <a:ext cx="26060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9184" y="1801368"/>
            <a:ext cx="2496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CPU cache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80360" y="1755648"/>
            <a:ext cx="210312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935224" y="1801368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83480" y="1755648"/>
            <a:ext cx="21488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038344" y="1801368"/>
            <a:ext cx="2039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KB I + 8 KB 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32320" y="1755648"/>
            <a:ext cx="224028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187184" y="1801368"/>
            <a:ext cx="2130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KB I + 4 KB 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372600" y="1755648"/>
            <a:ext cx="2423160" cy="329184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427464" y="1801368"/>
            <a:ext cx="2306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KB I + 16 KB 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2084832"/>
            <a:ext cx="2606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9184" y="2130552"/>
            <a:ext cx="2496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880360" y="2084832"/>
            <a:ext cx="2103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935224" y="2130552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FD216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83480" y="2084832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038344" y="2130552"/>
            <a:ext cx="2039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TeakLite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32320" y="2084832"/>
            <a:ext cx="2240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187184" y="2130552"/>
            <a:ext cx="2130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 (Bi-MAC)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372600" y="2084832"/>
            <a:ext cx="2423160" cy="329184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9427464" y="2130552"/>
            <a:ext cx="2306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RV32 P-ext (DSP Core, cache+OCM+TCM)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2414016"/>
            <a:ext cx="26060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29184" y="2459736"/>
            <a:ext cx="2496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cache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880360" y="2414016"/>
            <a:ext cx="210312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935224" y="2459736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983480" y="2414016"/>
            <a:ext cx="21488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038344" y="2459736"/>
            <a:ext cx="2039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132320" y="2414016"/>
            <a:ext cx="224028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7187184" y="2459736"/>
            <a:ext cx="2130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372600" y="2414016"/>
            <a:ext cx="2423160" cy="329184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9427464" y="2459736"/>
            <a:ext cx="2306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KB I$ + 8 KB D$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" y="2743200"/>
            <a:ext cx="2606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29184" y="2788920"/>
            <a:ext cx="2496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code memory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880360" y="2743200"/>
            <a:ext cx="2103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2935224" y="2788920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× 32 KB PM banks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983480" y="2743200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5038344" y="2788920"/>
            <a:ext cx="2039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KB PRAM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132320" y="2743200"/>
            <a:ext cx="2240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7187184" y="2788920"/>
            <a:ext cx="2130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KB IRAM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372600" y="2743200"/>
            <a:ext cx="2423160" cy="329184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9427464" y="2788920"/>
            <a:ext cx="2306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KB OCM (banked, AXI)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74320" y="3072384"/>
            <a:ext cx="26060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29184" y="3118104"/>
            <a:ext cx="2496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data memory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880360" y="3072384"/>
            <a:ext cx="210312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2935224" y="3118104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+ IR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983480" y="3072384"/>
            <a:ext cx="21488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5038344" y="3118104"/>
            <a:ext cx="2039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KB XRAM + 24 KB YRAM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132320" y="3072384"/>
            <a:ext cx="224028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7187184" y="3118104"/>
            <a:ext cx="2130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20+20 KB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9372600" y="3072384"/>
            <a:ext cx="2423160" cy="329184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9427464" y="3118104"/>
            <a:ext cx="2306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KB TCM (DFE+audio) + OCM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74320" y="3401568"/>
            <a:ext cx="2606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329184" y="3447288"/>
            <a:ext cx="2496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ROM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880360" y="3401568"/>
            <a:ext cx="2103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935224" y="3447288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blobs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983480" y="3401568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5038344" y="3447288"/>
            <a:ext cx="2039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KB XROM + ROMs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132320" y="3401568"/>
            <a:ext cx="2240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7187184" y="3447288"/>
            <a:ext cx="2130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BBROM 96 KB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9372600" y="3401568"/>
            <a:ext cx="2423160" cy="329184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9427464" y="3447288"/>
            <a:ext cx="2306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- all from flash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274320" y="3730752"/>
            <a:ext cx="26060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329184" y="3776472"/>
            <a:ext cx="2496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Inter-core IPC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2880360" y="3730752"/>
            <a:ext cx="210312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2935224" y="3776472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MCU/DSP regs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4983480" y="3730752"/>
            <a:ext cx="21488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5038344" y="3776472"/>
            <a:ext cx="2039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 + arbiter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7132320" y="3730752"/>
            <a:ext cx="224028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7187184" y="3776472"/>
            <a:ext cx="2130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Registers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9372600" y="3730752"/>
            <a:ext cx="2423160" cy="329184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9427464" y="3776472"/>
            <a:ext cx="2306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KB OCM carve-out + APB doorbell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274320" y="4059936"/>
            <a:ext cx="2606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329184" y="4105656"/>
            <a:ext cx="2496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Flash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2880360" y="4059936"/>
            <a:ext cx="2103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2935224" y="4105656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SPI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4983480" y="4059936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5038344" y="4105656"/>
            <a:ext cx="2039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SPI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7132320" y="4059936"/>
            <a:ext cx="2240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7187184" y="4105656"/>
            <a:ext cx="2130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MB integrated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9372600" y="4059936"/>
            <a:ext cx="2423160" cy="329184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101"/>
          <p:cNvSpPr/>
          <p:nvPr/>
        </p:nvSpPr>
        <p:spPr>
          <a:xfrm>
            <a:off x="9427464" y="4105656"/>
            <a:ext cx="2306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MB external SPI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274320" y="4389120"/>
            <a:ext cx="26060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Text 103"/>
          <p:cNvSpPr/>
          <p:nvPr/>
        </p:nvSpPr>
        <p:spPr>
          <a:xfrm>
            <a:off x="329184" y="4434840"/>
            <a:ext cx="2496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PSRAM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2880360" y="4389120"/>
            <a:ext cx="210312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2935224" y="4434840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SPI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4983480" y="4389120"/>
            <a:ext cx="21488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5038344" y="4434840"/>
            <a:ext cx="2039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SPI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7132320" y="4389120"/>
            <a:ext cx="224028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7187184" y="4434840"/>
            <a:ext cx="2130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MB integrated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9372600" y="4389120"/>
            <a:ext cx="2423160" cy="329184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9427464" y="4434840"/>
            <a:ext cx="2306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MB external SPI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274320" y="4718304"/>
            <a:ext cx="2606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Text 113"/>
          <p:cNvSpPr/>
          <p:nvPr/>
        </p:nvSpPr>
        <p:spPr>
          <a:xfrm>
            <a:off x="329184" y="4764024"/>
            <a:ext cx="2496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2880360" y="4718304"/>
            <a:ext cx="21031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5"/>
          <p:cNvSpPr/>
          <p:nvPr/>
        </p:nvSpPr>
        <p:spPr>
          <a:xfrm>
            <a:off x="2935224" y="4764024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Dual-MCU + DSP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4983480" y="4718304"/>
            <a:ext cx="2148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5038344" y="4764024"/>
            <a:ext cx="2039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Triple-MCU + DSP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7132320" y="4718304"/>
            <a:ext cx="2240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7187184" y="4764024"/>
            <a:ext cx="2130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Dual-MCU + VoC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9372600" y="4718304"/>
            <a:ext cx="2423160" cy="329184"/>
          </a:xfrm>
          <a:prstGeom prst="rect">
            <a:avLst/>
          </a:prstGeom>
          <a:solidFill>
            <a:srgbClr val="F8ECE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9427464" y="4764024"/>
            <a:ext cx="2306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RV32 - DSP in software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274320" y="5486400"/>
            <a:ext cx="11475720" cy="822960"/>
          </a:xfrm>
          <a:prstGeom prst="roundRect">
            <a:avLst>
              <a:gd name="adj" fmla="val 7778"/>
            </a:avLst>
          </a:prstGeom>
          <a:solidFill>
            <a:srgbClr val="EEF3F8"/>
          </a:solidFill>
          <a:ln w="9525">
            <a:solidFill>
              <a:srgbClr val="7FA8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57200" y="55595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8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</p:txBody>
      </p:sp>
      <p:sp>
        <p:nvSpPr>
          <p:cNvPr id="126" name="Text 124"/>
          <p:cNvSpPr/>
          <p:nvPr/>
        </p:nvSpPr>
        <p:spPr>
          <a:xfrm>
            <a:off x="457200" y="580644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SS2000 collapses MCU + DSP into one dual-RV32 SoC.  DSP Core total 316 KB (cache 24 + OCM 256 + TCM 36) - comparable to SC6531E TeakLite PRAM+XRAM+YRAM (114 KB) + ARM9 cache + IRAM (32 KB) + IROM 88 KB ROMs.</a:t>
            </a:r>
            <a:endParaRPr lang="en-US" sz="1050" dirty="0"/>
          </a:p>
        </p:txBody>
      </p:sp>
      <p:sp>
        <p:nvSpPr>
          <p:cNvPr id="127" name="Shape 12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365760" y="651967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comparison</a:t>
            </a:r>
            <a:endParaRPr lang="en-US" sz="1000" dirty="0"/>
          </a:p>
        </p:txBody>
      </p:sp>
      <p:sp>
        <p:nvSpPr>
          <p:cNvPr id="129" name="Text 127"/>
          <p:cNvSpPr/>
          <p:nvPr/>
        </p:nvSpPr>
        <p:spPr>
          <a:xfrm>
            <a:off x="8595360" y="651967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SS2000 Confidential  ·  v7.1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and Risks — read before tape-out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Single-architecture v7.1 baseline · recoverability noted for each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931920" cy="420624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47472" y="1243584"/>
            <a:ext cx="37856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06240" y="1188720"/>
            <a:ext cx="822960" cy="420624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279392" y="1243584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0" y="1188720"/>
            <a:ext cx="6885432" cy="420624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102352" y="1243584"/>
            <a:ext cx="674142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/ Recovery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609344"/>
            <a:ext cx="3931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7472" y="1664208"/>
            <a:ext cx="37856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 AMR overlay &lt;= 42 KB after RV32 port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06240" y="1609344"/>
            <a:ext cx="822960" cy="420624"/>
          </a:xfrm>
          <a:prstGeom prst="rect">
            <a:avLst/>
          </a:prstGeom>
          <a:solidFill>
            <a:srgbClr val="F0E2C4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279392" y="1664208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0" y="1609344"/>
            <a:ext cx="688543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102352" y="1664208"/>
            <a:ext cx="674142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single-mode &gt; 42 KB, OCM has 256 KB - just bump allocation. No silicon change.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029968"/>
            <a:ext cx="3931920" cy="42062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7472" y="2084832"/>
            <a:ext cx="37856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DFE 8x sized per spec (16 + 16 KB TCM)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06240" y="2029968"/>
            <a:ext cx="822960" cy="420624"/>
          </a:xfrm>
          <a:prstGeom prst="rect">
            <a:avLst/>
          </a:prstGeom>
          <a:solidFill>
            <a:srgbClr val="DDEAD8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279392" y="2084832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0" y="2029968"/>
            <a:ext cx="6885432" cy="42062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102352" y="2084832"/>
            <a:ext cx="674142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system architect.  If oversampling rate increases, +16-32 KB TCM per increment.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450592"/>
            <a:ext cx="3931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47472" y="2505456"/>
            <a:ext cx="37856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Audio-MIC 320 B fits GSM voice only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06240" y="2450592"/>
            <a:ext cx="822960" cy="420624"/>
          </a:xfrm>
          <a:prstGeom prst="rect">
            <a:avLst/>
          </a:prstGeom>
          <a:solidFill>
            <a:srgbClr val="F0E2C4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279392" y="250545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0" y="2450592"/>
            <a:ext cx="688543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102352" y="2505456"/>
            <a:ext cx="674142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BT-HFP / AMR-WB / stereo recording, bump to 640 B / 1280 B / 3840 B in TCM.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871216"/>
            <a:ext cx="3931920" cy="42062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7472" y="2926080"/>
            <a:ext cx="37856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TCM 36 KB sufficient for DFE+audio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06240" y="2871216"/>
            <a:ext cx="822960" cy="420624"/>
          </a:xfrm>
          <a:prstGeom prst="rect">
            <a:avLst/>
          </a:prstGeom>
          <a:solidFill>
            <a:srgbClr val="F0E2C4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279392" y="2926080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0" y="2871216"/>
            <a:ext cx="6885432" cy="42062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102352" y="2926080"/>
            <a:ext cx="674142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more HW-paced buffers added (e.g., FM IF samples), bump TCM by macro-size increment.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291840"/>
            <a:ext cx="3931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47472" y="3346704"/>
            <a:ext cx="37856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receiver fits in 16 KB OCM reserve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206240" y="3291840"/>
            <a:ext cx="822960" cy="420624"/>
          </a:xfrm>
          <a:prstGeom prst="rect">
            <a:avLst/>
          </a:prstGeom>
          <a:solidFill>
            <a:srgbClr val="F0CFC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279392" y="3346704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0" y="3291840"/>
            <a:ext cx="688543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102352" y="3346704"/>
            <a:ext cx="674142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measurement.  Likely needs 16-32 KB.  OCM has banking flexibility to absorb.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3712464"/>
            <a:ext cx="3931920" cy="42062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47472" y="3767328"/>
            <a:ext cx="37856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KB I$ + 5 cy OCM miss → AMAT 1.18 cy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206240" y="3712464"/>
            <a:ext cx="822960" cy="420624"/>
          </a:xfrm>
          <a:prstGeom prst="rect">
            <a:avLst/>
          </a:prstGeom>
          <a:solidFill>
            <a:srgbClr val="F0E2C4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279392" y="3767328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029200" y="3712464"/>
            <a:ext cx="6885432" cy="42062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102352" y="3767328"/>
            <a:ext cx="674142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ballpark - validate via cachegrind on reference firmware (osmocom-bb or LAVA IL2801).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4133088"/>
            <a:ext cx="3931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47472" y="4187952"/>
            <a:ext cx="37856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 enforces -Os + LTO=ON for DSP Core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206240" y="4133088"/>
            <a:ext cx="822960" cy="420624"/>
          </a:xfrm>
          <a:prstGeom prst="rect">
            <a:avLst/>
          </a:prstGeom>
          <a:solidFill>
            <a:srgbClr val="F0E2C4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279392" y="4187952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029200" y="4133088"/>
            <a:ext cx="688543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102352" y="4187952"/>
            <a:ext cx="674142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CI mistake to fall back to -O3.  Add lint check / make rule.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4553712"/>
            <a:ext cx="3931920" cy="42062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47472" y="4608576"/>
            <a:ext cx="37856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KB OCM IPC carve-out uncacheable in hardware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206240" y="4553712"/>
            <a:ext cx="822960" cy="420624"/>
          </a:xfrm>
          <a:prstGeom prst="rect">
            <a:avLst/>
          </a:prstGeom>
          <a:solidFill>
            <a:srgbClr val="DDEAD8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279392" y="4608576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029200" y="4553712"/>
            <a:ext cx="6885432" cy="42062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5102352" y="4608576"/>
            <a:ext cx="674142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AXI MPU/PMA supports per-region cacheability.  Standard pattern.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74320" y="4974336"/>
            <a:ext cx="3931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47472" y="5029200"/>
            <a:ext cx="37856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Single-bank FOTA in 4 MB flash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206240" y="4974336"/>
            <a:ext cx="822960" cy="420624"/>
          </a:xfrm>
          <a:prstGeom prst="rect">
            <a:avLst/>
          </a:prstGeom>
          <a:solidFill>
            <a:srgbClr val="DDEAD8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279392" y="5029200"/>
            <a:ext cx="6766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029200" y="4974336"/>
            <a:ext cx="688543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5102352" y="5029200"/>
            <a:ext cx="674142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download to PSRAM, verify, atomic swap.  Reversion needs cold reboot.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74320" y="5852160"/>
            <a:ext cx="11640312" cy="502920"/>
          </a:xfrm>
          <a:prstGeom prst="roundRect">
            <a:avLst>
              <a:gd name="adj" fmla="val 12727"/>
            </a:avLst>
          </a:prstGeom>
          <a:solidFill>
            <a:srgbClr val="F0CFCF"/>
          </a:solidFill>
          <a:ln w="9525">
            <a:solidFill>
              <a:srgbClr val="C97D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457200" y="5907024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exposure: 1 High (FM) + 4 Medium + 4 Low.  Max recovery cost = 32-48 KB OCM bump + cachegrind validation if all M-risks hit.  No silicon respin required for most.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365760" y="651967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Risks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595360" y="651967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SS2000 Confidential  ·  v7.1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SS2000 v7.1 final memory provisioning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Tape-out budget · single architecture · see Slide 11 for risks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7FA8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Core  I-cache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4-way SA, 64B, WB, LRU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7FA8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2900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Core  D-cache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29000" y="1463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KB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29000" y="1965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4-way SA, 64B, WB, LRU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63640" y="118872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D49B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5508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4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Core  I+D cache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55080" y="1463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KB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55080" y="1965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KB I$ + 8 KB D$, line-lock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89720" y="1188720"/>
            <a:ext cx="258775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6510">
            <a:solidFill>
              <a:srgbClr val="D49B9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2811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4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Core  TCM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281160" y="1463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KB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281160" y="1965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DFE 32 + audio 4 (private bus)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423160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6510">
            <a:solidFill>
              <a:srgbClr val="C9A8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248716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Core  OCM (banked)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KB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8640" y="3154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× 32 KB · I/D mappable · 5 KB IPC carve-out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43400" y="2423160"/>
            <a:ext cx="3749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6510">
            <a:solidFill>
              <a:srgbClr val="C9A8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480560" y="248716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PSRAM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48056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MB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480560" y="3154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SPI · 200 cy · Application Core runtime + bulk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75320" y="2423160"/>
            <a:ext cx="350215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6510">
            <a:solidFill>
              <a:srgbClr val="C9A8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412480" y="248716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41248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MB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412480" y="3154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SPI · 1600 cy · cold/FOTA/NV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" y="3611880"/>
            <a:ext cx="11365992" cy="868680"/>
          </a:xfrm>
          <a:prstGeom prst="roundRect">
            <a:avLst>
              <a:gd name="adj" fmla="val 7368"/>
            </a:avLst>
          </a:prstGeom>
          <a:solidFill>
            <a:srgbClr val="F4F6F9"/>
          </a:solidFill>
          <a:ln w="9525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94360" y="3657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On-die SRAM by role:  Application Core caches 48 KB  ·  DSP Core cache 24 KB  ·  DSP Core OCM 256 KB  ·  DSP Core TCM 36 KB  =  364 KB total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" y="3931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memory:  4 MB PSRAM + 4 MB Flash  =  8 MB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" y="4206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Core hybrid runs at full 700 MHz fmax · no TCM-induced clock penalty · cache+OCM gives flat code space, no banking overlay required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" y="4663440"/>
            <a:ext cx="11365992" cy="960120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 w="9525">
            <a:solidFill>
              <a:srgbClr val="7FA8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94360" y="4709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8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v7.1 architecture commit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94360" y="49834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Cache + banked OCM + dedicated TCM committed as the SS2000 architecture (Option A retired)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94360" y="518464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DSP Core fmax 700 MHz · no banking complexity · -O3 OK except for -Os mandate on codec/L1 for size discipline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4360" y="5385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DFE-Rx/Tx + audio in private TCM (hard real-time) · everything else cached from OCM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11480" y="5715000"/>
            <a:ext cx="11365992" cy="640080"/>
          </a:xfrm>
          <a:prstGeom prst="roundRect">
            <a:avLst>
              <a:gd name="adj" fmla="val 10000"/>
            </a:avLst>
          </a:prstGeom>
          <a:solidFill>
            <a:srgbClr val="F0E2C4"/>
          </a:solidFill>
          <a:ln w="9525">
            <a:solidFill>
              <a:srgbClr val="C9A8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94360" y="5760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validate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receiver footprint  ·  MP3 + AAC at -Os  ·  per-mode AMR DM split  ·  cachegrind on reference firmware  ·  AXI MPU per-region cacheability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65760" y="651967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provisioning · v7.1 tape-out budget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595360" y="651967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SS2000 Confidential  ·  v7.1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SS2000 vs reference parts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SC6531E and SC6533G "writable" numbers exclude 100-300 KB of pre-burnt code/data ROM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2926080" cy="365760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84632" y="1289304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37560" y="1234440"/>
            <a:ext cx="2697480" cy="365760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10712" y="1289304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SC6531E (TeakLite)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0" y="1234440"/>
            <a:ext cx="2697480" cy="365760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108192" y="1289304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SC6533G (VoC + BCPU)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732520" y="1234440"/>
            <a:ext cx="3017520" cy="365760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805672" y="1289304"/>
            <a:ext cx="28538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SS2000 (DSP Core)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1600200"/>
            <a:ext cx="2926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4632" y="1655064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Writable code (RAM)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1600200"/>
            <a:ext cx="2697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410712" y="1655064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KB PRAM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600200"/>
            <a:ext cx="2697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08192" y="1655064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KB VoC IRAM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732520" y="1600200"/>
            <a:ext cx="3017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805672" y="1655064"/>
            <a:ext cx="28538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KB cache + 256 KB OCM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1965960"/>
            <a:ext cx="29260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" y="2020824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Writable data (RAM)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37560" y="1965960"/>
            <a:ext cx="26974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410712" y="2020824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+ 24 = 66 KB X/YRAM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1965960"/>
            <a:ext cx="26974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108192" y="2020824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KB VoC + 16 KB BBSRAM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732520" y="1965960"/>
            <a:ext cx="301752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805672" y="2020824"/>
            <a:ext cx="28538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KB TCM (DFE+audio) + OCM share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2331720"/>
            <a:ext cx="2926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4632" y="2386584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ROM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337560" y="2331720"/>
            <a:ext cx="2697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410712" y="2386584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KB XROM + ~200 KB PROM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35040" y="2331720"/>
            <a:ext cx="2697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108192" y="2386584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KB BBROM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732520" y="2331720"/>
            <a:ext cx="3017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805672" y="2386584"/>
            <a:ext cx="28538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KB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" y="2697480"/>
            <a:ext cx="29260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84632" y="2752344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ROM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337560" y="2697480"/>
            <a:ext cx="26974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410712" y="2752344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KB YROM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035040" y="2697480"/>
            <a:ext cx="269748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108192" y="2752344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KB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732520" y="2697480"/>
            <a:ext cx="301752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805672" y="2752344"/>
            <a:ext cx="28538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KB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11480" y="3063240"/>
            <a:ext cx="2926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84632" y="3118104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(subsystem MCU)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337560" y="3063240"/>
            <a:ext cx="2697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410712" y="3118104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ARM9 8 + 8 KB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035040" y="3063240"/>
            <a:ext cx="2697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108192" y="3118104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BCPU 1 + 1 KB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732520" y="3063240"/>
            <a:ext cx="3017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8805672" y="3118104"/>
            <a:ext cx="28538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Core 32 + 16 KB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11480" y="3429000"/>
            <a:ext cx="2926080" cy="365760"/>
          </a:xfrm>
          <a:prstGeom prst="rect">
            <a:avLst/>
          </a:prstGeom>
          <a:solidFill>
            <a:srgbClr val="F0E2C4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84632" y="3483864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on-die for L1 + codec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337560" y="3429000"/>
            <a:ext cx="2697480" cy="365760"/>
          </a:xfrm>
          <a:prstGeom prst="rect">
            <a:avLst/>
          </a:prstGeom>
          <a:solidFill>
            <a:srgbClr val="F0E2C4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410712" y="3483864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~416 KB (RAM + ROM)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035040" y="3429000"/>
            <a:ext cx="2697480" cy="365760"/>
          </a:xfrm>
          <a:prstGeom prst="rect">
            <a:avLst/>
          </a:prstGeom>
          <a:solidFill>
            <a:srgbClr val="F0E2C4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108192" y="3483864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~186 KB (RAM + ROM)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732520" y="3429000"/>
            <a:ext cx="3017520" cy="365760"/>
          </a:xfrm>
          <a:prstGeom prst="rect">
            <a:avLst/>
          </a:prstGeom>
          <a:solidFill>
            <a:srgbClr val="F2DEDC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8805672" y="3483864"/>
            <a:ext cx="28538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316 KB DSP Core (all RAM)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11480" y="3794760"/>
            <a:ext cx="2926080" cy="365760"/>
          </a:xfrm>
          <a:prstGeom prst="rect">
            <a:avLst/>
          </a:prstGeom>
          <a:solidFill>
            <a:srgbClr val="DDEAD8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84632" y="3849624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DSP firmware in use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337560" y="3794760"/>
            <a:ext cx="2697480" cy="365760"/>
          </a:xfrm>
          <a:prstGeom prst="rect">
            <a:avLst/>
          </a:prstGeom>
          <a:solidFill>
            <a:srgbClr val="DDEAD8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3410712" y="3849624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KB (LZMA blob measured)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035040" y="3794760"/>
            <a:ext cx="2697480" cy="365760"/>
          </a:xfrm>
          <a:prstGeom prst="rect">
            <a:avLst/>
          </a:prstGeom>
          <a:solidFill>
            <a:srgbClr val="DDEAD8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6108192" y="3849624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~130 KB (BBROM + VoC)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8732520" y="3794760"/>
            <a:ext cx="3017520" cy="365760"/>
          </a:xfrm>
          <a:prstGeom prst="rect">
            <a:avLst/>
          </a:prstGeom>
          <a:solidFill>
            <a:srgbClr val="F2DEDC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8805672" y="3849624"/>
            <a:ext cx="28538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KB peak resident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411480" y="4325112"/>
            <a:ext cx="11365992" cy="2194560"/>
          </a:xfrm>
          <a:prstGeom prst="roundRect">
            <a:avLst>
              <a:gd name="adj" fmla="val 2917"/>
            </a:avLst>
          </a:prstGeom>
          <a:solidFill>
            <a:srgbClr val="DDE8F1"/>
          </a:solidFill>
          <a:ln w="9525">
            <a:solidFill>
              <a:srgbClr val="7FA8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594360" y="4370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8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SS2000 doesn't use code ROM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777240" y="46908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Both reference parts burnt vocoder primitives, FFT, codebook tables, A5/1 into silicon ROM.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77240" y="50017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That commits codec choice for chip life - no FOTA fixes, no new codec support.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777240" y="531266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SS2000 chose all-RAM so codec / L1 are fully updatable.  Price: ~50-100 KB more SRAM area.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777240" y="5623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Per-mode + -Os + cache + OCM shrinks active resident set to ~50 KB at any TDMA frame.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400800" y="43708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spectrum (for reference - not currently chosen)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6400800" y="4690872"/>
            <a:ext cx="1920240" cy="292608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6455664" y="4727448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8321040" y="4690872"/>
            <a:ext cx="1188720" cy="292608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8375904" y="4727448"/>
            <a:ext cx="10789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Core RAM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9509760" y="4690872"/>
            <a:ext cx="1005840" cy="292608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9564624" y="4727448"/>
            <a:ext cx="89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ROM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10515600" y="4690872"/>
            <a:ext cx="1097280" cy="292608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10570464" y="4727448"/>
            <a:ext cx="987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400800" y="4983480"/>
            <a:ext cx="1920240" cy="329184"/>
          </a:xfrm>
          <a:prstGeom prst="rect">
            <a:avLst/>
          </a:prstGeom>
          <a:solidFill>
            <a:srgbClr val="DDEAD8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6455664" y="5029200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v7.1 (all RAM)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8321040" y="4983480"/>
            <a:ext cx="1188720" cy="329184"/>
          </a:xfrm>
          <a:prstGeom prst="rect">
            <a:avLst/>
          </a:prstGeom>
          <a:solidFill>
            <a:srgbClr val="DDEAD8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8375904" y="5029200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OCM + 36 TCM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9509760" y="4983480"/>
            <a:ext cx="1005840" cy="329184"/>
          </a:xfrm>
          <a:prstGeom prst="rect">
            <a:avLst/>
          </a:prstGeom>
          <a:solidFill>
            <a:srgbClr val="DDEAD8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9564624" y="5029200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KB ROM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10515600" y="4983480"/>
            <a:ext cx="1097280" cy="329184"/>
          </a:xfrm>
          <a:prstGeom prst="rect">
            <a:avLst/>
          </a:prstGeom>
          <a:solidFill>
            <a:srgbClr val="DDEAD8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10570464" y="5029200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FOTA-friendly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6400800" y="5312664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6455664" y="5358384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A5 + FFT to ROM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8321040" y="5312664"/>
            <a:ext cx="1188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8375904" y="5358384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~230 + 36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9509760" y="5312664"/>
            <a:ext cx="1005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9564624" y="5358384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KB ROM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10515600" y="5312664"/>
            <a:ext cx="1097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10570464" y="5358384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Spec-frozen primitives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6400800" y="5641848"/>
            <a:ext cx="19202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6455664" y="5687568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vocoder ROM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8321040" y="5641848"/>
            <a:ext cx="118872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8375904" y="5687568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~206 + 36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9509760" y="5641848"/>
            <a:ext cx="100584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9564624" y="5687568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KB ROM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10515600" y="5641848"/>
            <a:ext cx="1097280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10570464" y="5687568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locked at tape-out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6400800" y="5971032"/>
            <a:ext cx="1920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6455664" y="6016752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SC6531E-style heavy ROM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8321040" y="5971032"/>
            <a:ext cx="1188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Text 108"/>
          <p:cNvSpPr/>
          <p:nvPr/>
        </p:nvSpPr>
        <p:spPr>
          <a:xfrm>
            <a:off x="8375904" y="6016752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~160 + 36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9509760" y="5971032"/>
            <a:ext cx="1005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9564624" y="6016752"/>
            <a:ext cx="896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KB ROM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10515600" y="5971032"/>
            <a:ext cx="1097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Text 112"/>
          <p:cNvSpPr/>
          <p:nvPr/>
        </p:nvSpPr>
        <p:spPr>
          <a:xfrm>
            <a:off x="10570464" y="6016752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spin per codec change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365760" y="651967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SS2000 vs SC6531E / SC6533G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8595360" y="651967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SS2000 Confidential  ·  v7.1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history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from v4 (March 2026, SC-1 era) through v7.1 (current)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580662" cy="356616"/>
          </a:xfrm>
          <a:prstGeom prst="rect">
            <a:avLst/>
          </a:prstGeom>
          <a:solidFill>
            <a:srgbClr val="3D4655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9184" y="1188720"/>
            <a:ext cx="47346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1143000"/>
            <a:ext cx="2769312" cy="356616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23544" y="1188720"/>
            <a:ext cx="266211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03320" y="1143000"/>
            <a:ext cx="8218604" cy="356616"/>
          </a:xfrm>
          <a:prstGeom prst="rect">
            <a:avLst/>
          </a:prstGeom>
          <a:solidFill>
            <a:srgbClr val="D49B9B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758184" y="1188720"/>
            <a:ext cx="8111405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99616"/>
            <a:ext cx="580662" cy="356616"/>
          </a:xfrm>
          <a:prstGeom prst="rect">
            <a:avLst/>
          </a:prstGeom>
          <a:solidFill>
            <a:srgbClr val="DDE8F1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9184" y="1545336"/>
            <a:ext cx="47346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8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1499616"/>
            <a:ext cx="2769312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23544" y="1545336"/>
            <a:ext cx="266211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SC-1 baseline (Mar 2026)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03320" y="1499616"/>
            <a:ext cx="8218604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758184" y="1545336"/>
            <a:ext cx="8111405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ARM/FD216 binary analysis · 5-bank TCM concept · 420+192 KB reco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856232"/>
            <a:ext cx="580662" cy="356616"/>
          </a:xfrm>
          <a:prstGeom prst="rect">
            <a:avLst/>
          </a:prstGeom>
          <a:solidFill>
            <a:srgbClr val="DDE8F1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9184" y="1901952"/>
            <a:ext cx="47346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8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V5.0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1856232"/>
            <a:ext cx="2769312" cy="356616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23544" y="1901952"/>
            <a:ext cx="266211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SS2000 rebrand · pastel palette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03320" y="1856232"/>
            <a:ext cx="8218604" cy="356616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58184" y="1901952"/>
            <a:ext cx="8111405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Core/Application Core naming · inter-frame banking · I-TCM 192 KB · 8+8 MB ext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212848"/>
            <a:ext cx="580662" cy="356616"/>
          </a:xfrm>
          <a:prstGeom prst="rect">
            <a:avLst/>
          </a:prstGeom>
          <a:solidFill>
            <a:srgbClr val="DDE8F1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9184" y="2258568"/>
            <a:ext cx="47346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8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V6.0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2212848"/>
            <a:ext cx="2769312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23544" y="2258568"/>
            <a:ext cx="266211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-Os/LTO + per-mode codecs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03320" y="2212848"/>
            <a:ext cx="8218604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758184" y="2258568"/>
            <a:ext cx="8111405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NB-AMR 211→63 KB · per-mode AMR · I-TCM 120 KB · 4+4 MB ext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569464"/>
            <a:ext cx="580662" cy="356616"/>
          </a:xfrm>
          <a:prstGeom prst="rect">
            <a:avLst/>
          </a:prstGeom>
          <a:solidFill>
            <a:srgbClr val="DDE8F1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29184" y="2615184"/>
            <a:ext cx="47346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8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v6.1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68680" y="2569464"/>
            <a:ext cx="2769312" cy="356616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23544" y="2615184"/>
            <a:ext cx="266211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cuts + Option B + risks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03320" y="2569464"/>
            <a:ext cx="8218604" cy="356616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758184" y="2615184"/>
            <a:ext cx="8111405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I/D-TCM 104 KB · risk panel · Option B (cache+OCM) introduced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2926080"/>
            <a:ext cx="580662" cy="356616"/>
          </a:xfrm>
          <a:prstGeom prst="rect">
            <a:avLst/>
          </a:prstGeom>
          <a:solidFill>
            <a:srgbClr val="DDE8F1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9184" y="2971800"/>
            <a:ext cx="47346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8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v6.2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68680" y="2926080"/>
            <a:ext cx="2769312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923544" y="2971800"/>
            <a:ext cx="266211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slide rebalanced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703320" y="2926080"/>
            <a:ext cx="8218604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758184" y="2971800"/>
            <a:ext cx="8111405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+ B as equal headline cards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282696"/>
            <a:ext cx="580662" cy="356616"/>
          </a:xfrm>
          <a:prstGeom prst="rect">
            <a:avLst/>
          </a:prstGeom>
          <a:solidFill>
            <a:srgbClr val="DDE8F1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29184" y="3328416"/>
            <a:ext cx="47346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8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v6.3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68680" y="3282696"/>
            <a:ext cx="2769312" cy="356616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923544" y="3328416"/>
            <a:ext cx="266211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Banked OCM · DFE 8x estimate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703320" y="3282696"/>
            <a:ext cx="8218604" cy="356616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758184" y="3328416"/>
            <a:ext cx="8111405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OCM 256 KB banked (8×32, I/D mappable) · D-TCM +24 KB DFE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3639312"/>
            <a:ext cx="580662" cy="356616"/>
          </a:xfrm>
          <a:prstGeom prst="rect">
            <a:avLst/>
          </a:prstGeom>
          <a:solidFill>
            <a:srgbClr val="DDE8F1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29184" y="3685032"/>
            <a:ext cx="47346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8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v6.4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68680" y="3639312"/>
            <a:ext cx="2769312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923544" y="3685032"/>
            <a:ext cx="266211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 spec applied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703320" y="3639312"/>
            <a:ext cx="8218604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3758184" y="3685032"/>
            <a:ext cx="8111405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DFE 16+16 + audio 4 KB · 5 KB AXI SRAM · D-TCM 144 KB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3995928"/>
            <a:ext cx="580662" cy="356616"/>
          </a:xfrm>
          <a:prstGeom prst="rect">
            <a:avLst/>
          </a:prstGeom>
          <a:solidFill>
            <a:srgbClr val="DDE8F1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29184" y="4041648"/>
            <a:ext cx="47346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8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v6.5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68680" y="3995928"/>
            <a:ext cx="2769312" cy="356616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923544" y="4041648"/>
            <a:ext cx="266211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Audio-MIC risk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703320" y="3995928"/>
            <a:ext cx="8218604" cy="356616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758184" y="4041648"/>
            <a:ext cx="8111405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B GSM voice only · bump for HFP/WB/stereo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74320" y="4352544"/>
            <a:ext cx="580662" cy="356616"/>
          </a:xfrm>
          <a:prstGeom prst="rect">
            <a:avLst/>
          </a:prstGeom>
          <a:solidFill>
            <a:srgbClr val="DDE8F1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9184" y="4398264"/>
            <a:ext cx="47346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8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v6.6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68680" y="4352544"/>
            <a:ext cx="2769312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923544" y="4398264"/>
            <a:ext cx="266211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reframed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703320" y="4352544"/>
            <a:ext cx="8218604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3758184" y="4398264"/>
            <a:ext cx="8111405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area NOT the differentiator - fmax+simplicity vs det+power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74320" y="4709160"/>
            <a:ext cx="580662" cy="356616"/>
          </a:xfrm>
          <a:prstGeom prst="rect">
            <a:avLst/>
          </a:prstGeom>
          <a:solidFill>
            <a:srgbClr val="DDE8F1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29184" y="4754880"/>
            <a:ext cx="47346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8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v6.7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68680" y="4709160"/>
            <a:ext cx="2769312" cy="356616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923544" y="4754880"/>
            <a:ext cx="266211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DFE+audio are TCM not OCM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703320" y="4709160"/>
            <a:ext cx="8218604" cy="356616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3758184" y="4754880"/>
            <a:ext cx="8111405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adds dedicated 36 KB TCM beyond 256 KB OCM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74320" y="5065776"/>
            <a:ext cx="580662" cy="356616"/>
          </a:xfrm>
          <a:prstGeom prst="rect">
            <a:avLst/>
          </a:prstGeom>
          <a:solidFill>
            <a:srgbClr val="DDE8F1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29184" y="5111496"/>
            <a:ext cx="47346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8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v6.8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68680" y="5065776"/>
            <a:ext cx="2769312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923544" y="5111496"/>
            <a:ext cx="266211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history slide added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3703320" y="5065776"/>
            <a:ext cx="8218604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3758184" y="5111496"/>
            <a:ext cx="8111405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version of this slide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74320" y="5422392"/>
            <a:ext cx="580662" cy="356616"/>
          </a:xfrm>
          <a:prstGeom prst="rect">
            <a:avLst/>
          </a:prstGeom>
          <a:solidFill>
            <a:srgbClr val="DDE8F1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329184" y="5468112"/>
            <a:ext cx="47346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8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v6.9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868680" y="5422392"/>
            <a:ext cx="2769312" cy="356616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923544" y="5468112"/>
            <a:ext cx="266211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AXI SRAM into OCM · TCM visual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3703320" y="5422392"/>
            <a:ext cx="8218604" cy="356616"/>
          </a:xfrm>
          <a:prstGeom prst="rect">
            <a:avLst/>
          </a:prstGeom>
          <a:solidFill>
            <a:srgbClr val="F4F6F9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3758184" y="5468112"/>
            <a:ext cx="8111405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D4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KB uncached OCM carve-out replaces separate AXI SRAM in Option B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274320" y="5779008"/>
            <a:ext cx="580662" cy="356616"/>
          </a:xfrm>
          <a:prstGeom prst="rect">
            <a:avLst/>
          </a:prstGeom>
          <a:solidFill>
            <a:srgbClr val="DDEAD8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329184" y="5824728"/>
            <a:ext cx="47346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v7.1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868680" y="5779008"/>
            <a:ext cx="2769312" cy="356616"/>
          </a:xfrm>
          <a:prstGeom prst="rect">
            <a:avLst/>
          </a:prstGeom>
          <a:solidFill>
            <a:srgbClr val="DDEAD8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923544" y="5824728"/>
            <a:ext cx="266211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v7.0 architecture commit  +  v7.1 core rename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3703320" y="5779008"/>
            <a:ext cx="8218604" cy="356616"/>
          </a:xfrm>
          <a:prstGeom prst="rect">
            <a:avLst/>
          </a:prstGeom>
          <a:solidFill>
            <a:srgbClr val="DDEAD8"/>
          </a:solidFill>
          <a:ln w="6350">
            <a:solidFill>
              <a:srgbClr val="D8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3758184" y="5824728"/>
            <a:ext cx="8111405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DB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v7.0: single architecture committed (Cache + banked OCM + TCM), 364 KB on-die, Option A retired.  v7.1: cores renamed to Application Core (Core 0) + DSP Core (Core 1) throughout.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365760" y="651967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D7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history  ·  v4 → v7.1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8595360" y="651967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SS2000 Confidential  ·  v7.1  ·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3653</Words>
  <Application>Microsoft Office PowerPoint</Application>
  <PresentationFormat>Widescreen</PresentationFormat>
  <Paragraphs>684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Sampige Semiconductors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SS2000 Memory Architecture v7.0</dc:title>
  <dc:subject>PptxGenJS Presentation</dc:subject>
  <dc:creator>PptxGenJS</dc:creator>
  <cp:lastModifiedBy>Makarand Kulkarni</cp:lastModifiedBy>
  <cp:revision>1</cp:revision>
  <dcterms:created xsi:type="dcterms:W3CDTF">2026-05-22T07:24:10Z</dcterms:created>
  <dcterms:modified xsi:type="dcterms:W3CDTF">2026-05-22T08:29:04Z</dcterms:modified>
</cp:coreProperties>
</file>